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7"/>
  </p:notesMasterIdLst>
  <p:sldIdLst>
    <p:sldId id="256" r:id="rId2"/>
    <p:sldId id="715" r:id="rId3"/>
    <p:sldId id="716" r:id="rId4"/>
    <p:sldId id="717" r:id="rId5"/>
    <p:sldId id="718" r:id="rId6"/>
    <p:sldId id="719" r:id="rId7"/>
    <p:sldId id="720" r:id="rId8"/>
    <p:sldId id="721" r:id="rId9"/>
    <p:sldId id="722" r:id="rId10"/>
    <p:sldId id="724" r:id="rId11"/>
    <p:sldId id="725" r:id="rId12"/>
    <p:sldId id="726" r:id="rId13"/>
    <p:sldId id="727" r:id="rId14"/>
    <p:sldId id="711" r:id="rId15"/>
    <p:sldId id="30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333F50"/>
    <a:srgbClr val="8497B0"/>
    <a:srgbClr val="8FAADC"/>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47" autoAdjust="0"/>
  </p:normalViewPr>
  <p:slideViewPr>
    <p:cSldViewPr snapToGrid="0">
      <p:cViewPr varScale="1">
        <p:scale>
          <a:sx n="103" d="100"/>
          <a:sy n="103" d="100"/>
        </p:scale>
        <p:origin x="912" y="114"/>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Precision(%)</c:v>
                </c:pt>
              </c:strCache>
            </c:strRef>
          </c:tx>
          <c:spPr>
            <a:solidFill>
              <a:schemeClr val="accent1"/>
            </a:solidFill>
            <a:ln>
              <a:noFill/>
            </a:ln>
            <a:effectLst/>
          </c:spPr>
          <c:invertIfNegative val="0"/>
          <c:cat>
            <c:strRef>
              <c:f>Sheet1!$A$2:$A$5</c:f>
              <c:strCache>
                <c:ptCount val="4"/>
                <c:pt idx="0">
                  <c:v>RF</c:v>
                </c:pt>
                <c:pt idx="1">
                  <c:v>DT</c:v>
                </c:pt>
                <c:pt idx="2">
                  <c:v>SVM</c:v>
                </c:pt>
                <c:pt idx="3">
                  <c:v>LR</c:v>
                </c:pt>
              </c:strCache>
            </c:strRef>
          </c:cat>
          <c:val>
            <c:numRef>
              <c:f>Sheet1!$B$2:$B$5</c:f>
              <c:numCache>
                <c:formatCode>General</c:formatCode>
                <c:ptCount val="4"/>
                <c:pt idx="0">
                  <c:v>100</c:v>
                </c:pt>
                <c:pt idx="1">
                  <c:v>98</c:v>
                </c:pt>
                <c:pt idx="2">
                  <c:v>98</c:v>
                </c:pt>
                <c:pt idx="3">
                  <c:v>93</c:v>
                </c:pt>
              </c:numCache>
            </c:numRef>
          </c:val>
          <c:extLst>
            <c:ext xmlns:c16="http://schemas.microsoft.com/office/drawing/2014/chart" uri="{C3380CC4-5D6E-409C-BE32-E72D297353CC}">
              <c16:uniqueId val="{00000000-D33D-4925-A0BE-A67CDD3364AB}"/>
            </c:ext>
          </c:extLst>
        </c:ser>
        <c:ser>
          <c:idx val="1"/>
          <c:order val="1"/>
          <c:tx>
            <c:strRef>
              <c:f>Sheet1!$C$1</c:f>
              <c:strCache>
                <c:ptCount val="1"/>
                <c:pt idx="0">
                  <c:v>Recall(%)</c:v>
                </c:pt>
              </c:strCache>
            </c:strRef>
          </c:tx>
          <c:spPr>
            <a:solidFill>
              <a:schemeClr val="accent2"/>
            </a:solidFill>
            <a:ln>
              <a:noFill/>
            </a:ln>
            <a:effectLst/>
          </c:spPr>
          <c:invertIfNegative val="0"/>
          <c:cat>
            <c:strRef>
              <c:f>Sheet1!$A$2:$A$5</c:f>
              <c:strCache>
                <c:ptCount val="4"/>
                <c:pt idx="0">
                  <c:v>RF</c:v>
                </c:pt>
                <c:pt idx="1">
                  <c:v>DT</c:v>
                </c:pt>
                <c:pt idx="2">
                  <c:v>SVM</c:v>
                </c:pt>
                <c:pt idx="3">
                  <c:v>LR</c:v>
                </c:pt>
              </c:strCache>
            </c:strRef>
          </c:cat>
          <c:val>
            <c:numRef>
              <c:f>Sheet1!$C$2:$C$5</c:f>
              <c:numCache>
                <c:formatCode>General</c:formatCode>
                <c:ptCount val="4"/>
                <c:pt idx="0">
                  <c:v>97</c:v>
                </c:pt>
                <c:pt idx="1">
                  <c:v>97</c:v>
                </c:pt>
                <c:pt idx="2">
                  <c:v>98</c:v>
                </c:pt>
                <c:pt idx="3">
                  <c:v>96</c:v>
                </c:pt>
              </c:numCache>
            </c:numRef>
          </c:val>
          <c:extLst>
            <c:ext xmlns:c16="http://schemas.microsoft.com/office/drawing/2014/chart" uri="{C3380CC4-5D6E-409C-BE32-E72D297353CC}">
              <c16:uniqueId val="{00000001-D33D-4925-A0BE-A67CDD3364AB}"/>
            </c:ext>
          </c:extLst>
        </c:ser>
        <c:ser>
          <c:idx val="2"/>
          <c:order val="2"/>
          <c:tx>
            <c:strRef>
              <c:f>Sheet1!$D$1</c:f>
              <c:strCache>
                <c:ptCount val="1"/>
                <c:pt idx="0">
                  <c:v>F1-Score(%)</c:v>
                </c:pt>
              </c:strCache>
            </c:strRef>
          </c:tx>
          <c:spPr>
            <a:solidFill>
              <a:schemeClr val="accent3"/>
            </a:solidFill>
            <a:ln>
              <a:noFill/>
            </a:ln>
            <a:effectLst/>
          </c:spPr>
          <c:invertIfNegative val="0"/>
          <c:cat>
            <c:strRef>
              <c:f>Sheet1!$A$2:$A$5</c:f>
              <c:strCache>
                <c:ptCount val="4"/>
                <c:pt idx="0">
                  <c:v>RF</c:v>
                </c:pt>
                <c:pt idx="1">
                  <c:v>DT</c:v>
                </c:pt>
                <c:pt idx="2">
                  <c:v>SVM</c:v>
                </c:pt>
                <c:pt idx="3">
                  <c:v>LR</c:v>
                </c:pt>
              </c:strCache>
            </c:strRef>
          </c:cat>
          <c:val>
            <c:numRef>
              <c:f>Sheet1!$D$2:$D$5</c:f>
              <c:numCache>
                <c:formatCode>General</c:formatCode>
                <c:ptCount val="4"/>
                <c:pt idx="0">
                  <c:v>98</c:v>
                </c:pt>
                <c:pt idx="1">
                  <c:v>98</c:v>
                </c:pt>
                <c:pt idx="2">
                  <c:v>98</c:v>
                </c:pt>
                <c:pt idx="3">
                  <c:v>95</c:v>
                </c:pt>
              </c:numCache>
            </c:numRef>
          </c:val>
          <c:extLst>
            <c:ext xmlns:c16="http://schemas.microsoft.com/office/drawing/2014/chart" uri="{C3380CC4-5D6E-409C-BE32-E72D297353CC}">
              <c16:uniqueId val="{00000002-D33D-4925-A0BE-A67CDD3364AB}"/>
            </c:ext>
          </c:extLst>
        </c:ser>
        <c:ser>
          <c:idx val="3"/>
          <c:order val="3"/>
          <c:tx>
            <c:strRef>
              <c:f>Sheet1!$E$1</c:f>
              <c:strCache>
                <c:ptCount val="1"/>
                <c:pt idx="0">
                  <c:v>Accuracy(%)</c:v>
                </c:pt>
              </c:strCache>
            </c:strRef>
          </c:tx>
          <c:spPr>
            <a:solidFill>
              <a:schemeClr val="accent4"/>
            </a:solidFill>
            <a:ln>
              <a:noFill/>
            </a:ln>
            <a:effectLst/>
          </c:spPr>
          <c:invertIfNegative val="0"/>
          <c:cat>
            <c:strRef>
              <c:f>Sheet1!$A$2:$A$5</c:f>
              <c:strCache>
                <c:ptCount val="4"/>
                <c:pt idx="0">
                  <c:v>RF</c:v>
                </c:pt>
                <c:pt idx="1">
                  <c:v>DT</c:v>
                </c:pt>
                <c:pt idx="2">
                  <c:v>SVM</c:v>
                </c:pt>
                <c:pt idx="3">
                  <c:v>LR</c:v>
                </c:pt>
              </c:strCache>
            </c:strRef>
          </c:cat>
          <c:val>
            <c:numRef>
              <c:f>Sheet1!$E$2:$E$5</c:f>
              <c:numCache>
                <c:formatCode>General</c:formatCode>
                <c:ptCount val="4"/>
                <c:pt idx="0">
                  <c:v>99</c:v>
                </c:pt>
                <c:pt idx="1">
                  <c:v>99</c:v>
                </c:pt>
                <c:pt idx="2">
                  <c:v>99</c:v>
                </c:pt>
                <c:pt idx="3">
                  <c:v>98</c:v>
                </c:pt>
              </c:numCache>
            </c:numRef>
          </c:val>
          <c:extLst>
            <c:ext xmlns:c16="http://schemas.microsoft.com/office/drawing/2014/chart" uri="{C3380CC4-5D6E-409C-BE32-E72D297353CC}">
              <c16:uniqueId val="{00000003-D33D-4925-A0BE-A67CDD3364AB}"/>
            </c:ext>
          </c:extLst>
        </c:ser>
        <c:dLbls>
          <c:showLegendKey val="0"/>
          <c:showVal val="0"/>
          <c:showCatName val="0"/>
          <c:showSerName val="0"/>
          <c:showPercent val="0"/>
          <c:showBubbleSize val="0"/>
        </c:dLbls>
        <c:gapWidth val="219"/>
        <c:overlap val="-27"/>
        <c:axId val="1123927839"/>
        <c:axId val="1123928319"/>
      </c:barChart>
      <c:catAx>
        <c:axId val="11239278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23928319"/>
        <c:crosses val="autoZero"/>
        <c:auto val="1"/>
        <c:lblAlgn val="ctr"/>
        <c:lblOffset val="100"/>
        <c:noMultiLvlLbl val="0"/>
      </c:catAx>
      <c:valAx>
        <c:axId val="11239283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239278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22-9-25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Fraud Detection Analysis</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785F0-1D5C-81A4-9403-E2AC743FE8AA}"/>
              </a:ext>
            </a:extLst>
          </p:cNvPr>
          <p:cNvSpPr>
            <a:spLocks noGrp="1"/>
          </p:cNvSpPr>
          <p:nvPr>
            <p:ph type="title"/>
          </p:nvPr>
        </p:nvSpPr>
        <p:spPr/>
        <p:txBody>
          <a:bodyPr/>
          <a:lstStyle/>
          <a:p>
            <a:r>
              <a:rPr lang="en-IN" dirty="0"/>
              <a:t>CONTENTS:</a:t>
            </a:r>
          </a:p>
        </p:txBody>
      </p:sp>
      <p:sp>
        <p:nvSpPr>
          <p:cNvPr id="3" name="Content Placeholder 2">
            <a:extLst>
              <a:ext uri="{FF2B5EF4-FFF2-40B4-BE49-F238E27FC236}">
                <a16:creationId xmlns:a16="http://schemas.microsoft.com/office/drawing/2014/main" id="{3E69A29C-521A-E3C1-7486-710FD2503227}"/>
              </a:ext>
            </a:extLst>
          </p:cNvPr>
          <p:cNvSpPr>
            <a:spLocks noGrp="1"/>
          </p:cNvSpPr>
          <p:nvPr>
            <p:ph idx="1"/>
          </p:nvPr>
        </p:nvSpPr>
        <p:spPr/>
        <p:txBody>
          <a:bodyPr/>
          <a:lstStyle/>
          <a:p>
            <a:r>
              <a:rPr lang="en-IN" dirty="0"/>
              <a:t>Introduction</a:t>
            </a:r>
          </a:p>
          <a:p>
            <a:r>
              <a:rPr lang="en-IN" dirty="0"/>
              <a:t>Data Overview</a:t>
            </a:r>
          </a:p>
          <a:p>
            <a:r>
              <a:rPr lang="en-IN" dirty="0"/>
              <a:t>Exploratory Data Analysis</a:t>
            </a:r>
          </a:p>
          <a:p>
            <a:r>
              <a:rPr lang="en-IN" dirty="0"/>
              <a:t>Data Preprocessing</a:t>
            </a:r>
          </a:p>
          <a:p>
            <a:r>
              <a:rPr lang="en-IN" dirty="0"/>
              <a:t>Model Evaluation and Comparison</a:t>
            </a:r>
          </a:p>
          <a:p>
            <a:r>
              <a:rPr lang="en-IN" dirty="0"/>
              <a:t>Conclusion</a:t>
            </a:r>
          </a:p>
          <a:p>
            <a:endParaRPr lang="en-IN" dirty="0"/>
          </a:p>
        </p:txBody>
      </p:sp>
    </p:spTree>
    <p:extLst>
      <p:ext uri="{BB962C8B-B14F-4D97-AF65-F5344CB8AC3E}">
        <p14:creationId xmlns:p14="http://schemas.microsoft.com/office/powerpoint/2010/main" val="916975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1D9356EE-AFBD-C4A3-3474-59A4364F1CDD}"/>
              </a:ext>
            </a:extLst>
          </p:cNvPr>
          <p:cNvSpPr>
            <a:spLocks noGrp="1"/>
          </p:cNvSpPr>
          <p:nvPr>
            <p:ph type="title"/>
          </p:nvPr>
        </p:nvSpPr>
        <p:spPr>
          <a:xfrm>
            <a:off x="710386" y="2049670"/>
            <a:ext cx="2957050" cy="2562226"/>
          </a:xfrm>
        </p:spPr>
        <p:txBody>
          <a:bodyPr/>
          <a:lstStyle/>
          <a:p>
            <a:r>
              <a:rPr lang="en-US" dirty="0"/>
              <a:t>INTRODUCTION</a:t>
            </a:r>
          </a:p>
        </p:txBody>
      </p:sp>
      <p:sp>
        <p:nvSpPr>
          <p:cNvPr id="4" name="TextBox 3">
            <a:extLst>
              <a:ext uri="{FF2B5EF4-FFF2-40B4-BE49-F238E27FC236}">
                <a16:creationId xmlns:a16="http://schemas.microsoft.com/office/drawing/2014/main" id="{F92C67FD-8B2F-A66F-89F5-673F73713650}"/>
              </a:ext>
            </a:extLst>
          </p:cNvPr>
          <p:cNvSpPr txBox="1"/>
          <p:nvPr/>
        </p:nvSpPr>
        <p:spPr>
          <a:xfrm>
            <a:off x="4488024" y="466531"/>
            <a:ext cx="7380126" cy="3724096"/>
          </a:xfrm>
          <a:prstGeom prst="rect">
            <a:avLst/>
          </a:prstGeom>
          <a:noFill/>
        </p:spPr>
        <p:txBody>
          <a:bodyPr wrap="square" rtlCol="0">
            <a:spAutoFit/>
          </a:bodyPr>
          <a:lstStyle/>
          <a:p>
            <a:r>
              <a:rPr lang="en-US" b="1" dirty="0"/>
              <a:t>Project Overview:</a:t>
            </a:r>
            <a:br>
              <a:rPr lang="en-US" dirty="0"/>
            </a:br>
            <a:r>
              <a:rPr lang="en-US" sz="1600" dirty="0"/>
              <a:t>This project aims to enhance the accuracy of detecting fraud in mobile financial transactions. By leveraging machine learning, the project seeks to predict fraudulent transactions with high precision. The goal is to develop a robust machine learning model to accurately identify fraudulent transactions in real-time , enabling the company to improve security, reduce financial losses, and gain insights into factors contributing to transaction fraud.</a:t>
            </a:r>
          </a:p>
          <a:p>
            <a:r>
              <a:rPr lang="en-US" dirty="0"/>
              <a:t> </a:t>
            </a:r>
          </a:p>
          <a:p>
            <a:r>
              <a:rPr lang="en-US" b="1" dirty="0"/>
              <a:t>Deliverables: </a:t>
            </a:r>
            <a:endParaRPr lang="en-US" dirty="0"/>
          </a:p>
          <a:p>
            <a:r>
              <a:rPr lang="en-US" sz="1600" dirty="0"/>
              <a:t>A production-ready machine learning model for fraud detection. </a:t>
            </a:r>
          </a:p>
          <a:p>
            <a:r>
              <a:rPr lang="en-US" sz="1600" dirty="0"/>
              <a:t>Comprehensive analysis of model performance and expected financial impact. </a:t>
            </a:r>
          </a:p>
          <a:p>
            <a:endParaRPr lang="en-US" dirty="0"/>
          </a:p>
          <a:p>
            <a:r>
              <a:rPr lang="en-US" b="1" dirty="0"/>
              <a:t>Dataset : </a:t>
            </a:r>
            <a:r>
              <a:rPr lang="en-US" sz="1600" dirty="0"/>
              <a:t>Fraud_Analysis_Dataset.csv</a:t>
            </a:r>
          </a:p>
          <a:p>
            <a:endParaRPr lang="en-IN" b="1" dirty="0"/>
          </a:p>
        </p:txBody>
      </p:sp>
    </p:spTree>
    <p:extLst>
      <p:ext uri="{BB962C8B-B14F-4D97-AF65-F5344CB8AC3E}">
        <p14:creationId xmlns:p14="http://schemas.microsoft.com/office/powerpoint/2010/main" val="1815794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9A089-EC11-E83F-71F9-2CC572187D05}"/>
            </a:ext>
          </a:extLst>
        </p:cNvPr>
        <p:cNvGrpSpPr/>
        <p:nvPr/>
      </p:nvGrpSpPr>
      <p:grpSpPr>
        <a:xfrm>
          <a:off x="0" y="0"/>
          <a:ext cx="0" cy="0"/>
          <a:chOff x="0" y="0"/>
          <a:chExt cx="0" cy="0"/>
        </a:xfrm>
      </p:grpSpPr>
      <p:sp>
        <p:nvSpPr>
          <p:cNvPr id="10" name="Title 2">
            <a:extLst>
              <a:ext uri="{FF2B5EF4-FFF2-40B4-BE49-F238E27FC236}">
                <a16:creationId xmlns:a16="http://schemas.microsoft.com/office/drawing/2014/main" id="{DE337CB7-71A5-34E2-4144-2AB6568C010D}"/>
              </a:ext>
            </a:extLst>
          </p:cNvPr>
          <p:cNvSpPr>
            <a:spLocks noGrp="1"/>
          </p:cNvSpPr>
          <p:nvPr>
            <p:ph type="title"/>
          </p:nvPr>
        </p:nvSpPr>
        <p:spPr>
          <a:xfrm>
            <a:off x="710386" y="2049670"/>
            <a:ext cx="2957050" cy="2562226"/>
          </a:xfrm>
        </p:spPr>
        <p:txBody>
          <a:bodyPr/>
          <a:lstStyle/>
          <a:p>
            <a:r>
              <a:rPr lang="en-US" dirty="0"/>
              <a:t>DATA OVERVIEW</a:t>
            </a:r>
          </a:p>
        </p:txBody>
      </p:sp>
      <p:sp>
        <p:nvSpPr>
          <p:cNvPr id="4" name="TextBox 3">
            <a:extLst>
              <a:ext uri="{FF2B5EF4-FFF2-40B4-BE49-F238E27FC236}">
                <a16:creationId xmlns:a16="http://schemas.microsoft.com/office/drawing/2014/main" id="{51011400-BE5D-8E9A-BCB1-F3C73229A576}"/>
              </a:ext>
            </a:extLst>
          </p:cNvPr>
          <p:cNvSpPr txBox="1"/>
          <p:nvPr/>
        </p:nvSpPr>
        <p:spPr>
          <a:xfrm>
            <a:off x="4124133" y="9316"/>
            <a:ext cx="7380126" cy="369332"/>
          </a:xfrm>
          <a:prstGeom prst="rect">
            <a:avLst/>
          </a:prstGeom>
          <a:noFill/>
        </p:spPr>
        <p:txBody>
          <a:bodyPr wrap="square" rtlCol="0">
            <a:spAutoFit/>
          </a:bodyPr>
          <a:lstStyle/>
          <a:p>
            <a:r>
              <a:rPr lang="en-US" b="1" dirty="0"/>
              <a:t>Dataset:</a:t>
            </a:r>
            <a:endParaRPr lang="en-US" dirty="0"/>
          </a:p>
        </p:txBody>
      </p:sp>
      <p:pic>
        <p:nvPicPr>
          <p:cNvPr id="3" name="Picture 2">
            <a:extLst>
              <a:ext uri="{FF2B5EF4-FFF2-40B4-BE49-F238E27FC236}">
                <a16:creationId xmlns:a16="http://schemas.microsoft.com/office/drawing/2014/main" id="{B6C1AF1C-370B-D1F0-E3F7-2170A5934DC9}"/>
              </a:ext>
            </a:extLst>
          </p:cNvPr>
          <p:cNvPicPr>
            <a:picLocks noChangeAspect="1"/>
          </p:cNvPicPr>
          <p:nvPr/>
        </p:nvPicPr>
        <p:blipFill>
          <a:blip r:embed="rId2"/>
          <a:stretch>
            <a:fillRect/>
          </a:stretch>
        </p:blipFill>
        <p:spPr>
          <a:xfrm>
            <a:off x="4236093" y="378662"/>
            <a:ext cx="7831446" cy="1535702"/>
          </a:xfrm>
          <a:prstGeom prst="rect">
            <a:avLst/>
          </a:prstGeom>
          <a:ln>
            <a:solidFill>
              <a:srgbClr val="2F5597"/>
            </a:solidFill>
          </a:ln>
        </p:spPr>
        <p:style>
          <a:lnRef idx="2">
            <a:schemeClr val="dk1"/>
          </a:lnRef>
          <a:fillRef idx="1">
            <a:schemeClr val="lt1"/>
          </a:fillRef>
          <a:effectRef idx="0">
            <a:schemeClr val="dk1"/>
          </a:effectRef>
          <a:fontRef idx="minor">
            <a:schemeClr val="dk1"/>
          </a:fontRef>
        </p:style>
      </p:pic>
      <p:graphicFrame>
        <p:nvGraphicFramePr>
          <p:cNvPr id="5" name="Table 4">
            <a:extLst>
              <a:ext uri="{FF2B5EF4-FFF2-40B4-BE49-F238E27FC236}">
                <a16:creationId xmlns:a16="http://schemas.microsoft.com/office/drawing/2014/main" id="{F8F4A70A-EF1A-1B20-7AC5-93ED3DF4AC05}"/>
              </a:ext>
            </a:extLst>
          </p:cNvPr>
          <p:cNvGraphicFramePr>
            <a:graphicFrameLocks noGrp="1"/>
          </p:cNvGraphicFramePr>
          <p:nvPr>
            <p:extLst>
              <p:ext uri="{D42A27DB-BD31-4B8C-83A1-F6EECF244321}">
                <p14:modId xmlns:p14="http://schemas.microsoft.com/office/powerpoint/2010/main" val="719858513"/>
              </p:ext>
            </p:extLst>
          </p:nvPr>
        </p:nvGraphicFramePr>
        <p:xfrm>
          <a:off x="4245424" y="2305386"/>
          <a:ext cx="5900006" cy="3894466"/>
        </p:xfrm>
        <a:graphic>
          <a:graphicData uri="http://schemas.openxmlformats.org/drawingml/2006/table">
            <a:tbl>
              <a:tblPr firstRow="1">
                <a:tableStyleId>{BC89EF96-8CEA-46FF-86C4-4CE0E7609802}</a:tableStyleId>
              </a:tblPr>
              <a:tblGrid>
                <a:gridCol w="1313923">
                  <a:extLst>
                    <a:ext uri="{9D8B030D-6E8A-4147-A177-3AD203B41FA5}">
                      <a16:colId xmlns:a16="http://schemas.microsoft.com/office/drawing/2014/main" val="498451755"/>
                    </a:ext>
                  </a:extLst>
                </a:gridCol>
                <a:gridCol w="4586083">
                  <a:extLst>
                    <a:ext uri="{9D8B030D-6E8A-4147-A177-3AD203B41FA5}">
                      <a16:colId xmlns:a16="http://schemas.microsoft.com/office/drawing/2014/main" val="839422862"/>
                    </a:ext>
                  </a:extLst>
                </a:gridCol>
              </a:tblGrid>
              <a:tr h="152790">
                <a:tc>
                  <a:txBody>
                    <a:bodyPr/>
                    <a:lstStyle/>
                    <a:p>
                      <a:pPr algn="l" fontAlgn="b">
                        <a:buNone/>
                      </a:pPr>
                      <a:r>
                        <a:rPr lang="en-IN" sz="900" u="none" strike="noStrike" dirty="0">
                          <a:effectLst/>
                        </a:rPr>
                        <a:t>Variables</a:t>
                      </a:r>
                      <a:endParaRPr lang="en-IN" sz="900" b="1" i="0" u="none" strike="noStrike" dirty="0">
                        <a:solidFill>
                          <a:srgbClr val="FFFFFF"/>
                        </a:solidFill>
                        <a:effectLst/>
                        <a:latin typeface="Aptos Narrow" panose="020B0004020202020204" pitchFamily="34" charset="0"/>
                      </a:endParaRPr>
                    </a:p>
                  </a:txBody>
                  <a:tcPr marL="5711" marR="5711" marT="5711" marB="0" anchor="b"/>
                </a:tc>
                <a:tc>
                  <a:txBody>
                    <a:bodyPr/>
                    <a:lstStyle/>
                    <a:p>
                      <a:pPr algn="l" fontAlgn="b">
                        <a:buNone/>
                      </a:pPr>
                      <a:r>
                        <a:rPr lang="en-IN" sz="900" u="none" strike="noStrike" dirty="0">
                          <a:effectLst/>
                        </a:rPr>
                        <a:t>Descriptions</a:t>
                      </a:r>
                      <a:endParaRPr lang="en-IN" sz="900" b="1" i="0" u="none" strike="noStrike" dirty="0">
                        <a:solidFill>
                          <a:srgbClr val="FFFFFF"/>
                        </a:solidFill>
                        <a:effectLst/>
                        <a:latin typeface="Aptos Narrow" panose="020B0004020202020204" pitchFamily="34" charset="0"/>
                      </a:endParaRPr>
                    </a:p>
                  </a:txBody>
                  <a:tcPr marL="5711" marR="5711" marT="5711" marB="0" anchor="b"/>
                </a:tc>
                <a:extLst>
                  <a:ext uri="{0D108BD9-81ED-4DB2-BD59-A6C34878D82A}">
                    <a16:rowId xmlns:a16="http://schemas.microsoft.com/office/drawing/2014/main" val="1983326412"/>
                  </a:ext>
                </a:extLst>
              </a:tr>
              <a:tr h="166334">
                <a:tc>
                  <a:txBody>
                    <a:bodyPr/>
                    <a:lstStyle/>
                    <a:p>
                      <a:pPr algn="l" fontAlgn="ctr">
                        <a:buNone/>
                      </a:pPr>
                      <a:r>
                        <a:rPr lang="en-IN" sz="900" u="none" strike="noStrike">
                          <a:effectLst/>
                        </a:rPr>
                        <a:t>step</a:t>
                      </a:r>
                      <a:endParaRPr lang="en-IN" sz="900" b="1" i="0" u="none" strike="noStrike">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a:effectLst/>
                        </a:rPr>
                        <a:t>maps a unit of time in the real world. In this case 1 step is 1 hour of time.</a:t>
                      </a:r>
                      <a:endParaRPr lang="en-US" sz="900" b="0" i="0" u="none" strike="noStrike">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1188996063"/>
                  </a:ext>
                </a:extLst>
              </a:tr>
              <a:tr h="1619612">
                <a:tc>
                  <a:txBody>
                    <a:bodyPr/>
                    <a:lstStyle/>
                    <a:p>
                      <a:pPr algn="l" fontAlgn="ctr">
                        <a:buNone/>
                      </a:pPr>
                      <a:r>
                        <a:rPr lang="en-IN" sz="900" u="none" strike="noStrike" dirty="0">
                          <a:effectLst/>
                        </a:rPr>
                        <a:t>type</a:t>
                      </a:r>
                      <a:endParaRPr lang="en-IN" sz="900" b="1" i="0" u="none" strike="noStrike" dirty="0">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a:effectLst/>
                        </a:rPr>
                        <a:t>Types of transactions: </a:t>
                      </a:r>
                      <a:br>
                        <a:rPr lang="en-US" sz="900" u="none" strike="noStrike">
                          <a:effectLst/>
                        </a:rPr>
                      </a:br>
                      <a:r>
                        <a:rPr lang="en-US" sz="900" u="none" strike="noStrike">
                          <a:effectLst/>
                        </a:rPr>
                        <a:t>CASH-IN: Refers to depositing cash into an account, typically adding funds.</a:t>
                      </a:r>
                      <a:br>
                        <a:rPr lang="en-US" sz="900" u="none" strike="noStrike">
                          <a:effectLst/>
                        </a:rPr>
                      </a:br>
                      <a:r>
                        <a:rPr lang="en-US" sz="900" u="none" strike="noStrike">
                          <a:effectLst/>
                        </a:rPr>
                        <a:t>CASH-OUT: Refers to withdrawing cash from an account, usually removing funds.</a:t>
                      </a:r>
                      <a:br>
                        <a:rPr lang="en-US" sz="900" u="none" strike="noStrike">
                          <a:effectLst/>
                        </a:rPr>
                      </a:br>
                      <a:r>
                        <a:rPr lang="en-US" sz="900" u="none" strike="noStrike">
                          <a:effectLst/>
                        </a:rPr>
                        <a:t>DEBIT: This can have two meanings: </a:t>
                      </a:r>
                      <a:br>
                        <a:rPr lang="en-US" sz="900" u="none" strike="noStrike">
                          <a:effectLst/>
                        </a:rPr>
                      </a:br>
                      <a:r>
                        <a:rPr lang="en-US" sz="900" u="none" strike="noStrike">
                          <a:effectLst/>
                        </a:rPr>
                        <a:t>  -&gt; It can refer to a decrease in the balance of a financial account due to a withdrawal or an expense; </a:t>
                      </a:r>
                      <a:br>
                        <a:rPr lang="en-US" sz="900" u="none" strike="noStrike">
                          <a:effectLst/>
                        </a:rPr>
                      </a:br>
                      <a:r>
                        <a:rPr lang="en-US" sz="900" u="none" strike="noStrike">
                          <a:effectLst/>
                        </a:rPr>
                        <a:t>  -&gt; In accounting, it represents an entry that reduces assets or increases liabilities.</a:t>
                      </a:r>
                      <a:br>
                        <a:rPr lang="en-US" sz="900" u="none" strike="noStrike">
                          <a:effectLst/>
                        </a:rPr>
                      </a:br>
                      <a:r>
                        <a:rPr lang="en-US" sz="900" u="none" strike="noStrike">
                          <a:effectLst/>
                        </a:rPr>
                        <a:t>PAYMENT: Refers to the transfer of money from one party (payer) to another (payee) in exchange for goods, services, or as settlement of a debt.</a:t>
                      </a:r>
                      <a:br>
                        <a:rPr lang="en-US" sz="900" u="none" strike="noStrike">
                          <a:effectLst/>
                        </a:rPr>
                      </a:br>
                      <a:r>
                        <a:rPr lang="en-US" sz="900" u="none" strike="noStrike">
                          <a:effectLst/>
                        </a:rPr>
                        <a:t>TRANSFER: Refers to moving money from one account to another, often between accounts held by the same person or entity.</a:t>
                      </a:r>
                      <a:endParaRPr lang="en-US" sz="900" b="0" i="0" u="none" strike="noStrike">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1547243437"/>
                  </a:ext>
                </a:extLst>
              </a:tr>
              <a:tr h="152790">
                <a:tc>
                  <a:txBody>
                    <a:bodyPr/>
                    <a:lstStyle/>
                    <a:p>
                      <a:pPr algn="l" fontAlgn="ctr">
                        <a:buNone/>
                      </a:pPr>
                      <a:r>
                        <a:rPr lang="en-IN" sz="900" u="none" strike="noStrike">
                          <a:effectLst/>
                        </a:rPr>
                        <a:t>amount</a:t>
                      </a:r>
                      <a:endParaRPr lang="en-IN" sz="900" b="1" i="0" u="none" strike="noStrike">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a:effectLst/>
                        </a:rPr>
                        <a:t>amount of the transaction in local currency.</a:t>
                      </a:r>
                      <a:endParaRPr lang="en-US" sz="900" b="0" i="0" u="none" strike="noStrike">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1076401780"/>
                  </a:ext>
                </a:extLst>
              </a:tr>
              <a:tr h="152790">
                <a:tc>
                  <a:txBody>
                    <a:bodyPr/>
                    <a:lstStyle/>
                    <a:p>
                      <a:pPr algn="l" fontAlgn="ctr">
                        <a:buNone/>
                      </a:pPr>
                      <a:r>
                        <a:rPr lang="en-IN" sz="900" u="none" strike="noStrike">
                          <a:effectLst/>
                        </a:rPr>
                        <a:t>nameOrig</a:t>
                      </a:r>
                      <a:endParaRPr lang="en-IN" sz="900" b="1" i="0" u="none" strike="noStrike">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a:effectLst/>
                        </a:rPr>
                        <a:t>customer who started the transaction.</a:t>
                      </a:r>
                      <a:endParaRPr lang="en-US" sz="900" b="0" i="0" u="none" strike="noStrike">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3749476165"/>
                  </a:ext>
                </a:extLst>
              </a:tr>
              <a:tr h="152790">
                <a:tc>
                  <a:txBody>
                    <a:bodyPr/>
                    <a:lstStyle/>
                    <a:p>
                      <a:pPr algn="l" fontAlgn="ctr">
                        <a:buNone/>
                      </a:pPr>
                      <a:r>
                        <a:rPr lang="en-IN" sz="900" u="none" strike="noStrike">
                          <a:effectLst/>
                        </a:rPr>
                        <a:t>oldbalanceOrg</a:t>
                      </a:r>
                      <a:endParaRPr lang="en-IN" sz="900" b="1" i="0" u="none" strike="noStrike">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a:effectLst/>
                        </a:rPr>
                        <a:t>initial balance before the transaction.</a:t>
                      </a:r>
                      <a:endParaRPr lang="en-US" sz="900" b="0" i="0" u="none" strike="noStrike">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3291091135"/>
                  </a:ext>
                </a:extLst>
              </a:tr>
              <a:tr h="152790">
                <a:tc>
                  <a:txBody>
                    <a:bodyPr/>
                    <a:lstStyle/>
                    <a:p>
                      <a:pPr algn="l" fontAlgn="ctr">
                        <a:buNone/>
                      </a:pPr>
                      <a:r>
                        <a:rPr lang="en-IN" sz="900" u="none" strike="noStrike">
                          <a:effectLst/>
                        </a:rPr>
                        <a:t>newbalanceOrig</a:t>
                      </a:r>
                      <a:endParaRPr lang="en-IN" sz="900" b="1" i="0" u="none" strike="noStrike">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a:effectLst/>
                        </a:rPr>
                        <a:t>new balance after the transaction.</a:t>
                      </a:r>
                      <a:endParaRPr lang="en-US" sz="900" b="0" i="0" u="none" strike="noStrike">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2188255100"/>
                  </a:ext>
                </a:extLst>
              </a:tr>
              <a:tr h="152790">
                <a:tc>
                  <a:txBody>
                    <a:bodyPr/>
                    <a:lstStyle/>
                    <a:p>
                      <a:pPr algn="l" fontAlgn="ctr">
                        <a:buNone/>
                      </a:pPr>
                      <a:r>
                        <a:rPr lang="en-IN" sz="900" u="none" strike="noStrike">
                          <a:effectLst/>
                        </a:rPr>
                        <a:t>nameDest</a:t>
                      </a:r>
                      <a:endParaRPr lang="en-IN" sz="900" b="1" i="0" u="none" strike="noStrike">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a:effectLst/>
                        </a:rPr>
                        <a:t>customer who is the recipient of the transaction.</a:t>
                      </a:r>
                      <a:endParaRPr lang="en-US" sz="900" b="0" i="0" u="none" strike="noStrike">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1621509578"/>
                  </a:ext>
                </a:extLst>
              </a:tr>
              <a:tr h="299472">
                <a:tc>
                  <a:txBody>
                    <a:bodyPr/>
                    <a:lstStyle/>
                    <a:p>
                      <a:pPr algn="l" fontAlgn="ctr">
                        <a:buNone/>
                      </a:pPr>
                      <a:r>
                        <a:rPr lang="en-IN" sz="900" u="none" strike="noStrike">
                          <a:effectLst/>
                        </a:rPr>
                        <a:t>oldbalanceDest</a:t>
                      </a:r>
                      <a:endParaRPr lang="en-IN" sz="900" b="1" i="0" u="none" strike="noStrike">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a:effectLst/>
                        </a:rPr>
                        <a:t>initial balance recipient before the transaction. Note that there is no information for customers that start with M (Merchants).</a:t>
                      </a:r>
                      <a:endParaRPr lang="en-US" sz="900" b="0" i="0" u="none" strike="noStrike">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3125936323"/>
                  </a:ext>
                </a:extLst>
              </a:tr>
              <a:tr h="299472">
                <a:tc>
                  <a:txBody>
                    <a:bodyPr/>
                    <a:lstStyle/>
                    <a:p>
                      <a:pPr algn="l" fontAlgn="ctr">
                        <a:buNone/>
                      </a:pPr>
                      <a:r>
                        <a:rPr lang="en-IN" sz="900" u="none" strike="noStrike">
                          <a:effectLst/>
                        </a:rPr>
                        <a:t>newbalanceDest</a:t>
                      </a:r>
                      <a:endParaRPr lang="en-IN" sz="900" b="1" i="0" u="none" strike="noStrike">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a:effectLst/>
                        </a:rPr>
                        <a:t>new balance recipient after the transaction.</a:t>
                      </a:r>
                      <a:br>
                        <a:rPr lang="en-US" sz="900" u="none" strike="noStrike">
                          <a:effectLst/>
                        </a:rPr>
                      </a:br>
                      <a:r>
                        <a:rPr lang="en-US" sz="900" u="none" strike="noStrike">
                          <a:effectLst/>
                        </a:rPr>
                        <a:t>Note that there is no information for customers that start with M (Merchants).</a:t>
                      </a:r>
                      <a:endParaRPr lang="en-US" sz="900" b="0" i="0" u="none" strike="noStrike">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1604689961"/>
                  </a:ext>
                </a:extLst>
              </a:tr>
              <a:tr h="592836">
                <a:tc>
                  <a:txBody>
                    <a:bodyPr/>
                    <a:lstStyle/>
                    <a:p>
                      <a:pPr algn="l" fontAlgn="ctr">
                        <a:buNone/>
                      </a:pPr>
                      <a:r>
                        <a:rPr lang="en-IN" sz="900" u="none" strike="noStrike">
                          <a:effectLst/>
                        </a:rPr>
                        <a:t>isFraud</a:t>
                      </a:r>
                      <a:endParaRPr lang="en-IN" sz="900" b="1" i="0" u="none" strike="noStrike">
                        <a:solidFill>
                          <a:srgbClr val="000000"/>
                        </a:solidFill>
                        <a:effectLst/>
                        <a:latin typeface="Courier New" panose="02070309020205020404" pitchFamily="49" charset="0"/>
                      </a:endParaRPr>
                    </a:p>
                  </a:txBody>
                  <a:tcPr marL="5711" marR="5711" marT="5711" marB="0" anchor="ctr"/>
                </a:tc>
                <a:tc>
                  <a:txBody>
                    <a:bodyPr/>
                    <a:lstStyle/>
                    <a:p>
                      <a:pPr algn="l" fontAlgn="ctr">
                        <a:buNone/>
                      </a:pPr>
                      <a:r>
                        <a:rPr lang="en-US" sz="900" u="none" strike="noStrike" dirty="0">
                          <a:effectLst/>
                        </a:rPr>
                        <a:t>This is the transactions made by the fraudulent agents inside the </a:t>
                      </a:r>
                      <a:r>
                        <a:rPr lang="en-US" sz="900" u="none" strike="noStrike" dirty="0" err="1">
                          <a:effectLst/>
                        </a:rPr>
                        <a:t>simulation.In</a:t>
                      </a:r>
                      <a:r>
                        <a:rPr lang="en-US" sz="900" u="none" strike="noStrike" dirty="0">
                          <a:effectLst/>
                        </a:rPr>
                        <a:t> this specific dataset the fraudulent behavior of the agents aims to profit by taking control of customers accounts and try to empty the funds by transferring to another account and then cashing out of the system.</a:t>
                      </a:r>
                      <a:br>
                        <a:rPr lang="en-US" sz="900" u="none" strike="noStrike" dirty="0">
                          <a:effectLst/>
                        </a:rPr>
                      </a:br>
                      <a:r>
                        <a:rPr lang="en-US" sz="900" u="none" strike="noStrike" dirty="0">
                          <a:effectLst/>
                        </a:rPr>
                        <a:t>(0: Not a Fraud; 1: Is a Fraud)</a:t>
                      </a:r>
                      <a:endParaRPr lang="en-US" sz="900" b="0" i="0" u="none" strike="noStrike" dirty="0">
                        <a:solidFill>
                          <a:srgbClr val="000000"/>
                        </a:solidFill>
                        <a:effectLst/>
                        <a:latin typeface="Courier New" panose="02070309020205020404" pitchFamily="49" charset="0"/>
                      </a:endParaRPr>
                    </a:p>
                  </a:txBody>
                  <a:tcPr marL="5711" marR="5711" marT="5711" marB="0" anchor="ctr"/>
                </a:tc>
                <a:extLst>
                  <a:ext uri="{0D108BD9-81ED-4DB2-BD59-A6C34878D82A}">
                    <a16:rowId xmlns:a16="http://schemas.microsoft.com/office/drawing/2014/main" val="3149672625"/>
                  </a:ext>
                </a:extLst>
              </a:tr>
            </a:tbl>
          </a:graphicData>
        </a:graphic>
      </p:graphicFrame>
      <p:sp>
        <p:nvSpPr>
          <p:cNvPr id="6" name="TextBox 5">
            <a:extLst>
              <a:ext uri="{FF2B5EF4-FFF2-40B4-BE49-F238E27FC236}">
                <a16:creationId xmlns:a16="http://schemas.microsoft.com/office/drawing/2014/main" id="{C86A3476-5646-5F72-5CD6-3BFA445D3CCF}"/>
              </a:ext>
            </a:extLst>
          </p:cNvPr>
          <p:cNvSpPr txBox="1"/>
          <p:nvPr/>
        </p:nvSpPr>
        <p:spPr>
          <a:xfrm>
            <a:off x="4117905" y="1925209"/>
            <a:ext cx="6027525" cy="369332"/>
          </a:xfrm>
          <a:prstGeom prst="rect">
            <a:avLst/>
          </a:prstGeom>
          <a:noFill/>
        </p:spPr>
        <p:txBody>
          <a:bodyPr wrap="square" rtlCol="0">
            <a:spAutoFit/>
          </a:bodyPr>
          <a:lstStyle/>
          <a:p>
            <a:r>
              <a:rPr lang="en-US" b="1" dirty="0"/>
              <a:t>Description:</a:t>
            </a:r>
            <a:endParaRPr lang="en-US" dirty="0"/>
          </a:p>
        </p:txBody>
      </p:sp>
      <p:sp>
        <p:nvSpPr>
          <p:cNvPr id="7" name="TextBox 6">
            <a:extLst>
              <a:ext uri="{FF2B5EF4-FFF2-40B4-BE49-F238E27FC236}">
                <a16:creationId xmlns:a16="http://schemas.microsoft.com/office/drawing/2014/main" id="{9DA5BD18-97E2-9E28-D1EF-808A86A4BA62}"/>
              </a:ext>
            </a:extLst>
          </p:cNvPr>
          <p:cNvSpPr txBox="1"/>
          <p:nvPr/>
        </p:nvSpPr>
        <p:spPr>
          <a:xfrm>
            <a:off x="10255900" y="2292986"/>
            <a:ext cx="1811639" cy="1661993"/>
          </a:xfrm>
          <a:prstGeom prst="rect">
            <a:avLst/>
          </a:prstGeom>
          <a:noFill/>
        </p:spPr>
        <p:txBody>
          <a:bodyPr wrap="square" rtlCol="0">
            <a:spAutoFit/>
          </a:bodyPr>
          <a:lstStyle/>
          <a:p>
            <a:r>
              <a:rPr lang="en-US" b="1" dirty="0"/>
              <a:t>Shape:</a:t>
            </a:r>
          </a:p>
          <a:p>
            <a:pPr marL="171450" indent="-171450">
              <a:buFont typeface="Arial" panose="020B0604020202020204" pitchFamily="34" charset="0"/>
              <a:buChar char="•"/>
            </a:pPr>
            <a:r>
              <a:rPr lang="en-US" sz="1200" dirty="0"/>
              <a:t>Original size:-</a:t>
            </a:r>
          </a:p>
          <a:p>
            <a:pPr marL="628650" lvl="1" indent="-171450">
              <a:buFont typeface="Arial" panose="020B0604020202020204" pitchFamily="34" charset="0"/>
              <a:buChar char="•"/>
            </a:pPr>
            <a:r>
              <a:rPr lang="en-US" sz="1200" dirty="0"/>
              <a:t>Rows : 11142</a:t>
            </a:r>
          </a:p>
          <a:p>
            <a:pPr marL="628650" lvl="1" indent="-171450">
              <a:buFont typeface="Arial" panose="020B0604020202020204" pitchFamily="34" charset="0"/>
              <a:buChar char="•"/>
            </a:pPr>
            <a:r>
              <a:rPr lang="en-US" sz="1200" dirty="0"/>
              <a:t>Columns: 10</a:t>
            </a:r>
          </a:p>
          <a:p>
            <a:pPr marL="171450" indent="-171450">
              <a:buFont typeface="Arial" panose="020B0604020202020204" pitchFamily="34" charset="0"/>
              <a:buChar char="•"/>
            </a:pPr>
            <a:r>
              <a:rPr lang="en-US" sz="1200" dirty="0"/>
              <a:t>Size after removing merchant transaction:-</a:t>
            </a:r>
          </a:p>
          <a:p>
            <a:pPr marL="628650" lvl="1" indent="-171450">
              <a:buFont typeface="Arial" panose="020B0604020202020204" pitchFamily="34" charset="0"/>
              <a:buChar char="•"/>
            </a:pPr>
            <a:r>
              <a:rPr lang="en-US" sz="1200" dirty="0"/>
              <a:t>Rows: 5632</a:t>
            </a:r>
          </a:p>
          <a:p>
            <a:pPr marL="628650" lvl="1" indent="-171450">
              <a:buFont typeface="Arial" panose="020B0604020202020204" pitchFamily="34" charset="0"/>
              <a:buChar char="•"/>
            </a:pPr>
            <a:r>
              <a:rPr lang="en-US" sz="1200" dirty="0"/>
              <a:t>Columns: 10</a:t>
            </a:r>
          </a:p>
        </p:txBody>
      </p:sp>
      <p:sp>
        <p:nvSpPr>
          <p:cNvPr id="8" name="TextBox 7">
            <a:extLst>
              <a:ext uri="{FF2B5EF4-FFF2-40B4-BE49-F238E27FC236}">
                <a16:creationId xmlns:a16="http://schemas.microsoft.com/office/drawing/2014/main" id="{09B780EC-CA4E-7699-181A-AFEAA5DE0B44}"/>
              </a:ext>
            </a:extLst>
          </p:cNvPr>
          <p:cNvSpPr txBox="1"/>
          <p:nvPr/>
        </p:nvSpPr>
        <p:spPr>
          <a:xfrm>
            <a:off x="10255900" y="4064636"/>
            <a:ext cx="1811639" cy="738664"/>
          </a:xfrm>
          <a:prstGeom prst="rect">
            <a:avLst/>
          </a:prstGeom>
          <a:noFill/>
        </p:spPr>
        <p:txBody>
          <a:bodyPr wrap="square" rtlCol="0">
            <a:spAutoFit/>
          </a:bodyPr>
          <a:lstStyle/>
          <a:p>
            <a:r>
              <a:rPr lang="en-US" b="1" dirty="0"/>
              <a:t>Information:</a:t>
            </a:r>
          </a:p>
          <a:p>
            <a:pPr marL="171450" indent="-171450">
              <a:buFont typeface="Arial" panose="020B0604020202020204" pitchFamily="34" charset="0"/>
              <a:buChar char="•"/>
            </a:pPr>
            <a:r>
              <a:rPr lang="en-US" sz="1200" dirty="0"/>
              <a:t>No. of Null values: 0</a:t>
            </a:r>
          </a:p>
          <a:p>
            <a:pPr marL="171450" indent="-171450">
              <a:buFont typeface="Arial" panose="020B0604020202020204" pitchFamily="34" charset="0"/>
              <a:buChar char="•"/>
            </a:pPr>
            <a:r>
              <a:rPr lang="en-US" sz="1200" dirty="0"/>
              <a:t>No. of duplicates: 0</a:t>
            </a:r>
          </a:p>
        </p:txBody>
      </p:sp>
      <p:sp>
        <p:nvSpPr>
          <p:cNvPr id="2" name="TextBox 1">
            <a:extLst>
              <a:ext uri="{FF2B5EF4-FFF2-40B4-BE49-F238E27FC236}">
                <a16:creationId xmlns:a16="http://schemas.microsoft.com/office/drawing/2014/main" id="{7E4CC3C0-7B57-6377-69BF-9588449FEEFD}"/>
              </a:ext>
            </a:extLst>
          </p:cNvPr>
          <p:cNvSpPr txBox="1"/>
          <p:nvPr/>
        </p:nvSpPr>
        <p:spPr>
          <a:xfrm>
            <a:off x="10255900" y="4893311"/>
            <a:ext cx="1811639" cy="923330"/>
          </a:xfrm>
          <a:prstGeom prst="rect">
            <a:avLst/>
          </a:prstGeom>
          <a:noFill/>
        </p:spPr>
        <p:txBody>
          <a:bodyPr wrap="square" rtlCol="0">
            <a:spAutoFit/>
          </a:bodyPr>
          <a:lstStyle/>
          <a:p>
            <a:r>
              <a:rPr lang="en-US" b="1" dirty="0"/>
              <a:t>Note:</a:t>
            </a:r>
          </a:p>
          <a:p>
            <a:r>
              <a:rPr lang="en-US" sz="1200" dirty="0"/>
              <a:t>There is no information for customers that start with </a:t>
            </a:r>
            <a:r>
              <a:rPr lang="en-US" sz="1200" b="1" dirty="0"/>
              <a:t>M</a:t>
            </a:r>
            <a:r>
              <a:rPr lang="en-US" sz="1200" dirty="0"/>
              <a:t>(Merchants)</a:t>
            </a:r>
          </a:p>
        </p:txBody>
      </p:sp>
    </p:spTree>
    <p:extLst>
      <p:ext uri="{BB962C8B-B14F-4D97-AF65-F5344CB8AC3E}">
        <p14:creationId xmlns:p14="http://schemas.microsoft.com/office/powerpoint/2010/main" val="3858509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EF0F03D1-A941-F874-1DA3-1EE3649A862F}"/>
              </a:ext>
            </a:extLst>
          </p:cNvPr>
          <p:cNvSpPr>
            <a:spLocks noGrp="1"/>
          </p:cNvSpPr>
          <p:nvPr>
            <p:ph type="title"/>
          </p:nvPr>
        </p:nvSpPr>
        <p:spPr>
          <a:xfrm>
            <a:off x="710386" y="2049670"/>
            <a:ext cx="2957050" cy="2562226"/>
          </a:xfrm>
        </p:spPr>
        <p:txBody>
          <a:bodyPr/>
          <a:lstStyle/>
          <a:p>
            <a:r>
              <a:rPr lang="en-US" dirty="0"/>
              <a:t>EXPLORATORY DATA ANALYSIS (EDA)</a:t>
            </a:r>
          </a:p>
        </p:txBody>
      </p:sp>
      <p:sp>
        <p:nvSpPr>
          <p:cNvPr id="5" name="TextBox 4">
            <a:extLst>
              <a:ext uri="{FF2B5EF4-FFF2-40B4-BE49-F238E27FC236}">
                <a16:creationId xmlns:a16="http://schemas.microsoft.com/office/drawing/2014/main" id="{29A89086-029E-E4ED-C2ED-EEEDD73BDBFC}"/>
              </a:ext>
            </a:extLst>
          </p:cNvPr>
          <p:cNvSpPr txBox="1"/>
          <p:nvPr/>
        </p:nvSpPr>
        <p:spPr>
          <a:xfrm>
            <a:off x="4488024" y="466531"/>
            <a:ext cx="7380126" cy="4616648"/>
          </a:xfrm>
          <a:prstGeom prst="rect">
            <a:avLst/>
          </a:prstGeom>
          <a:noFill/>
        </p:spPr>
        <p:txBody>
          <a:bodyPr wrap="square" rtlCol="0">
            <a:spAutoFit/>
          </a:bodyPr>
          <a:lstStyle/>
          <a:p>
            <a:r>
              <a:rPr lang="en-US" sz="1600" dirty="0"/>
              <a:t>For our</a:t>
            </a:r>
            <a:r>
              <a:rPr lang="en-US" dirty="0"/>
              <a:t> </a:t>
            </a:r>
            <a:r>
              <a:rPr lang="en-US" b="1" dirty="0"/>
              <a:t>Exploratory Data Analysis (EDA)</a:t>
            </a:r>
            <a:r>
              <a:rPr lang="en-US" dirty="0"/>
              <a:t>, </a:t>
            </a:r>
            <a:r>
              <a:rPr lang="en-US" sz="1600" dirty="0"/>
              <a:t>we'll take it in two main steps:</a:t>
            </a:r>
          </a:p>
          <a:p>
            <a:endParaRPr lang="en-US" dirty="0"/>
          </a:p>
          <a:p>
            <a:r>
              <a:rPr lang="en-US" b="1" dirty="0"/>
              <a:t>1. Univariate Analysis</a:t>
            </a:r>
            <a:r>
              <a:rPr lang="en-US" dirty="0"/>
              <a:t>: </a:t>
            </a:r>
            <a:r>
              <a:rPr lang="en-US" sz="1600" dirty="0"/>
              <a:t>Here, we'll focus on one feature at a time to understand its distribution and range.</a:t>
            </a:r>
          </a:p>
          <a:p>
            <a:endParaRPr lang="en-US" dirty="0"/>
          </a:p>
          <a:p>
            <a:r>
              <a:rPr lang="en-US" b="1" dirty="0"/>
              <a:t>2. Bivariate Analysis</a:t>
            </a:r>
            <a:r>
              <a:rPr lang="en-US" dirty="0"/>
              <a:t>: </a:t>
            </a:r>
            <a:r>
              <a:rPr lang="en-US" sz="1600" dirty="0"/>
              <a:t>In this step, we'll explore the relationship between each feature and the target variable. This helps us figure out the importance and influence of each feature on the target outcome</a:t>
            </a:r>
            <a:r>
              <a:rPr lang="en-US" dirty="0"/>
              <a:t>.</a:t>
            </a:r>
          </a:p>
          <a:p>
            <a:endParaRPr lang="en-US" dirty="0"/>
          </a:p>
          <a:p>
            <a:r>
              <a:rPr lang="en-US" sz="1600" dirty="0"/>
              <a:t>With these two steps, we aim to gain insights into the individual characteristics of the data and also how each feature relates to our main goal: </a:t>
            </a:r>
            <a:r>
              <a:rPr lang="en-US" sz="1600" b="1" dirty="0"/>
              <a:t>predicting the target variable</a:t>
            </a:r>
            <a:r>
              <a:rPr lang="en-US" sz="1600" dirty="0"/>
              <a:t>.</a:t>
            </a:r>
          </a:p>
          <a:p>
            <a:endParaRPr lang="en-US" sz="1600" dirty="0"/>
          </a:p>
          <a:p>
            <a:r>
              <a:rPr lang="en-US" b="1" dirty="0"/>
              <a:t>Numerical Features : </a:t>
            </a:r>
            <a:r>
              <a:rPr lang="en-US" sz="1600" dirty="0"/>
              <a:t>step, amount, </a:t>
            </a:r>
            <a:r>
              <a:rPr lang="en-US" sz="1600" dirty="0" err="1"/>
              <a:t>oldbalanceOrg</a:t>
            </a:r>
            <a:r>
              <a:rPr lang="en-US" sz="1600" dirty="0"/>
              <a:t>, </a:t>
            </a:r>
            <a:r>
              <a:rPr lang="en-US" sz="1600" dirty="0" err="1"/>
              <a:t>newbalanceOrig</a:t>
            </a:r>
            <a:r>
              <a:rPr lang="en-US" sz="1600" dirty="0"/>
              <a:t>, </a:t>
            </a:r>
            <a:r>
              <a:rPr lang="en-US" sz="1600" dirty="0" err="1"/>
              <a:t>oldbalanceDest</a:t>
            </a:r>
            <a:r>
              <a:rPr lang="en-US" sz="1600" dirty="0"/>
              <a:t>, </a:t>
            </a:r>
            <a:r>
              <a:rPr lang="en-US" sz="1600" dirty="0" err="1"/>
              <a:t>newbalanceDest</a:t>
            </a:r>
            <a:endParaRPr lang="en-US" dirty="0"/>
          </a:p>
          <a:p>
            <a:r>
              <a:rPr lang="en-US" b="1" dirty="0"/>
              <a:t>Categorical Features :</a:t>
            </a:r>
            <a:r>
              <a:rPr lang="en-US" dirty="0"/>
              <a:t> </a:t>
            </a:r>
            <a:r>
              <a:rPr lang="en-US" sz="1600" dirty="0"/>
              <a:t>type</a:t>
            </a:r>
            <a:endParaRPr lang="en-US" dirty="0"/>
          </a:p>
          <a:p>
            <a:r>
              <a:rPr lang="en-US" b="1" dirty="0"/>
              <a:t>Target :</a:t>
            </a:r>
            <a:r>
              <a:rPr lang="en-US" dirty="0"/>
              <a:t> </a:t>
            </a:r>
            <a:r>
              <a:rPr lang="en-US" sz="1600" dirty="0" err="1"/>
              <a:t>isFraud</a:t>
            </a:r>
            <a:endParaRPr lang="en-US" dirty="0"/>
          </a:p>
          <a:p>
            <a:endParaRPr lang="en-IN" b="1" dirty="0"/>
          </a:p>
        </p:txBody>
      </p:sp>
    </p:spTree>
    <p:extLst>
      <p:ext uri="{BB962C8B-B14F-4D97-AF65-F5344CB8AC3E}">
        <p14:creationId xmlns:p14="http://schemas.microsoft.com/office/powerpoint/2010/main" val="2405833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DA4C-0442-38F3-2849-98F7AE14C4FD}"/>
              </a:ext>
            </a:extLst>
          </p:cNvPr>
          <p:cNvSpPr>
            <a:spLocks noGrp="1"/>
          </p:cNvSpPr>
          <p:nvPr>
            <p:ph type="title"/>
          </p:nvPr>
        </p:nvSpPr>
        <p:spPr>
          <a:xfrm>
            <a:off x="6419850" y="146465"/>
            <a:ext cx="5514975" cy="612775"/>
          </a:xfrm>
        </p:spPr>
        <p:txBody>
          <a:bodyPr>
            <a:noAutofit/>
          </a:bodyPr>
          <a:lstStyle/>
          <a:p>
            <a:r>
              <a:rPr lang="en-US" sz="2200" dirty="0">
                <a:solidFill>
                  <a:schemeClr val="bg1"/>
                </a:solidFill>
              </a:rPr>
              <a:t>NUMERICAL FEATURES UNIVARIATE ANALYSIS</a:t>
            </a:r>
            <a:endParaRPr lang="en-IN" sz="2200" dirty="0">
              <a:solidFill>
                <a:schemeClr val="bg1"/>
              </a:solidFill>
            </a:endParaRPr>
          </a:p>
        </p:txBody>
      </p:sp>
      <p:pic>
        <p:nvPicPr>
          <p:cNvPr id="8" name="Picture 7">
            <a:extLst>
              <a:ext uri="{FF2B5EF4-FFF2-40B4-BE49-F238E27FC236}">
                <a16:creationId xmlns:a16="http://schemas.microsoft.com/office/drawing/2014/main" id="{B201E93E-E100-B305-23B7-4FAFC1BA1D42}"/>
              </a:ext>
            </a:extLst>
          </p:cNvPr>
          <p:cNvPicPr>
            <a:picLocks noChangeAspect="1"/>
          </p:cNvPicPr>
          <p:nvPr/>
        </p:nvPicPr>
        <p:blipFill>
          <a:blip r:embed="rId2"/>
          <a:stretch>
            <a:fillRect/>
          </a:stretch>
        </p:blipFill>
        <p:spPr>
          <a:xfrm>
            <a:off x="1" y="41690"/>
            <a:ext cx="6096000" cy="6054310"/>
          </a:xfrm>
          <a:prstGeom prst="rect">
            <a:avLst/>
          </a:prstGeom>
        </p:spPr>
      </p:pic>
      <p:sp>
        <p:nvSpPr>
          <p:cNvPr id="9" name="TextBox 8">
            <a:extLst>
              <a:ext uri="{FF2B5EF4-FFF2-40B4-BE49-F238E27FC236}">
                <a16:creationId xmlns:a16="http://schemas.microsoft.com/office/drawing/2014/main" id="{44E358BD-4AA2-A427-965B-9637FAC7A08B}"/>
              </a:ext>
            </a:extLst>
          </p:cNvPr>
          <p:cNvSpPr txBox="1"/>
          <p:nvPr/>
        </p:nvSpPr>
        <p:spPr>
          <a:xfrm>
            <a:off x="6419851" y="866775"/>
            <a:ext cx="5772148" cy="5262979"/>
          </a:xfrm>
          <a:prstGeom prst="rect">
            <a:avLst/>
          </a:prstGeom>
          <a:noFill/>
        </p:spPr>
        <p:txBody>
          <a:bodyPr wrap="square" rtlCol="0">
            <a:spAutoFit/>
          </a:bodyPr>
          <a:lstStyle/>
          <a:p>
            <a:r>
              <a:rPr lang="en-US" sz="1400" b="1" dirty="0">
                <a:solidFill>
                  <a:schemeClr val="bg1"/>
                </a:solidFill>
              </a:rPr>
              <a:t>Time (`step`) </a:t>
            </a:r>
            <a:r>
              <a:rPr lang="en-US" sz="1400" dirty="0">
                <a:solidFill>
                  <a:schemeClr val="bg1"/>
                </a:solidFill>
              </a:rPr>
              <a:t>: Right skewed distribution, Average time of transaction is 13 hours</a:t>
            </a:r>
          </a:p>
          <a:p>
            <a:r>
              <a:rPr lang="en-US" sz="1400" dirty="0">
                <a:solidFill>
                  <a:schemeClr val="bg1"/>
                </a:solidFill>
              </a:rPr>
              <a:t>    </a:t>
            </a:r>
          </a:p>
          <a:p>
            <a:r>
              <a:rPr lang="en-US" sz="1400" dirty="0">
                <a:solidFill>
                  <a:schemeClr val="bg1"/>
                </a:solidFill>
              </a:rPr>
              <a:t>    </a:t>
            </a:r>
          </a:p>
          <a:p>
            <a:r>
              <a:rPr lang="en-US" sz="1400" b="1" dirty="0">
                <a:solidFill>
                  <a:schemeClr val="bg1"/>
                </a:solidFill>
              </a:rPr>
              <a:t>Transaction Amount (`amount`)</a:t>
            </a:r>
            <a:r>
              <a:rPr lang="en-US" sz="1400" dirty="0">
                <a:solidFill>
                  <a:schemeClr val="bg1"/>
                </a:solidFill>
              </a:rPr>
              <a:t>:  The graph shows that most transactions are for small amounts, average transaction of 400k</a:t>
            </a:r>
          </a:p>
          <a:p>
            <a:r>
              <a:rPr lang="en-US" sz="1400" dirty="0">
                <a:solidFill>
                  <a:schemeClr val="bg1"/>
                </a:solidFill>
              </a:rPr>
              <a:t>    </a:t>
            </a:r>
          </a:p>
          <a:p>
            <a:r>
              <a:rPr lang="en-US" sz="1400" dirty="0">
                <a:solidFill>
                  <a:schemeClr val="bg1"/>
                </a:solidFill>
              </a:rPr>
              <a:t>    </a:t>
            </a:r>
          </a:p>
          <a:p>
            <a:r>
              <a:rPr lang="en-US" sz="1400" b="1" dirty="0">
                <a:solidFill>
                  <a:schemeClr val="bg1"/>
                </a:solidFill>
              </a:rPr>
              <a:t>Sender's Transaction (`</a:t>
            </a:r>
            <a:r>
              <a:rPr lang="en-US" sz="1400" b="1" dirty="0" err="1">
                <a:solidFill>
                  <a:schemeClr val="bg1"/>
                </a:solidFill>
              </a:rPr>
              <a:t>oldbalanceOrg</a:t>
            </a:r>
            <a:r>
              <a:rPr lang="en-US" sz="1400" b="1" dirty="0">
                <a:solidFill>
                  <a:schemeClr val="bg1"/>
                </a:solidFill>
              </a:rPr>
              <a:t>` &amp; `</a:t>
            </a:r>
            <a:r>
              <a:rPr lang="en-US" sz="1400" b="1" dirty="0" err="1">
                <a:solidFill>
                  <a:schemeClr val="bg1"/>
                </a:solidFill>
              </a:rPr>
              <a:t>newbalanceOrig</a:t>
            </a:r>
            <a:r>
              <a:rPr lang="en-US" sz="1400" b="1" dirty="0">
                <a:solidFill>
                  <a:schemeClr val="bg1"/>
                </a:solidFill>
              </a:rPr>
              <a:t>`)</a:t>
            </a:r>
            <a:r>
              <a:rPr lang="en-US" sz="1400" dirty="0">
                <a:solidFill>
                  <a:schemeClr val="bg1"/>
                </a:solidFill>
              </a:rPr>
              <a:t>: The distributions are highly concentrated near zero, which is expected since many transactions, especially for a large customer base, would involve small balances. The extremely high outliers are strong indicators of potential fraud. A sudden, massive change in balance or a transaction involving an unusually large account balance could be a key sign of an account takeover or other fraudulent activity.</a:t>
            </a:r>
          </a:p>
          <a:p>
            <a:r>
              <a:rPr lang="en-US" sz="1400" dirty="0">
                <a:solidFill>
                  <a:schemeClr val="bg1"/>
                </a:solidFill>
              </a:rPr>
              <a:t>    </a:t>
            </a:r>
          </a:p>
          <a:p>
            <a:r>
              <a:rPr lang="en-US" sz="1400" dirty="0">
                <a:solidFill>
                  <a:schemeClr val="bg1"/>
                </a:solidFill>
              </a:rPr>
              <a:t>    </a:t>
            </a:r>
          </a:p>
          <a:p>
            <a:r>
              <a:rPr lang="en-US" sz="1400" b="1" dirty="0">
                <a:solidFill>
                  <a:schemeClr val="bg1"/>
                </a:solidFill>
              </a:rPr>
              <a:t>Receiver's Transaction (`</a:t>
            </a:r>
            <a:r>
              <a:rPr lang="en-US" sz="1400" b="1" dirty="0" err="1">
                <a:solidFill>
                  <a:schemeClr val="bg1"/>
                </a:solidFill>
              </a:rPr>
              <a:t>oldbalanceDest</a:t>
            </a:r>
            <a:r>
              <a:rPr lang="en-US" sz="1400" b="1" dirty="0">
                <a:solidFill>
                  <a:schemeClr val="bg1"/>
                </a:solidFill>
              </a:rPr>
              <a:t>` &amp; `</a:t>
            </a:r>
            <a:r>
              <a:rPr lang="en-US" sz="1400" b="1" dirty="0" err="1">
                <a:solidFill>
                  <a:schemeClr val="bg1"/>
                </a:solidFill>
              </a:rPr>
              <a:t>newbalanceDest</a:t>
            </a:r>
            <a:r>
              <a:rPr lang="en-US" sz="1400" b="1" dirty="0">
                <a:solidFill>
                  <a:schemeClr val="bg1"/>
                </a:solidFill>
              </a:rPr>
              <a:t>`)</a:t>
            </a:r>
            <a:r>
              <a:rPr lang="en-US" sz="1400" dirty="0">
                <a:solidFill>
                  <a:schemeClr val="bg1"/>
                </a:solidFill>
              </a:rPr>
              <a:t>: Similar to the source balances, the distributions are also heavily right-skewed and have significant outliers. A large amount being transferred into or out of an account with a previously low or zero balance, especially for a destination account that is not a known customer, could be a strong signal of fraudulent activity.</a:t>
            </a:r>
          </a:p>
          <a:p>
            <a:endParaRPr lang="en-IN" sz="1400" dirty="0">
              <a:solidFill>
                <a:schemeClr val="bg1"/>
              </a:solidFill>
            </a:endParaRPr>
          </a:p>
        </p:txBody>
      </p:sp>
      <p:sp>
        <p:nvSpPr>
          <p:cNvPr id="10" name="TextBox 9">
            <a:extLst>
              <a:ext uri="{FF2B5EF4-FFF2-40B4-BE49-F238E27FC236}">
                <a16:creationId xmlns:a16="http://schemas.microsoft.com/office/drawing/2014/main" id="{49C1C699-F3BF-7201-0FED-A3F4B0762481}"/>
              </a:ext>
            </a:extLst>
          </p:cNvPr>
          <p:cNvSpPr txBox="1"/>
          <p:nvPr/>
        </p:nvSpPr>
        <p:spPr>
          <a:xfrm>
            <a:off x="1009649" y="5997431"/>
            <a:ext cx="1323975" cy="292388"/>
          </a:xfrm>
          <a:prstGeom prst="rect">
            <a:avLst/>
          </a:prstGeom>
          <a:noFill/>
        </p:spPr>
        <p:txBody>
          <a:bodyPr wrap="square" rtlCol="0">
            <a:spAutoFit/>
          </a:bodyPr>
          <a:lstStyle/>
          <a:p>
            <a:r>
              <a:rPr lang="en-US" sz="1300" dirty="0" err="1"/>
              <a:t>oldbalanceOrg</a:t>
            </a:r>
            <a:endParaRPr lang="en-IN" sz="1300" dirty="0"/>
          </a:p>
        </p:txBody>
      </p:sp>
      <p:sp>
        <p:nvSpPr>
          <p:cNvPr id="11" name="TextBox 10">
            <a:extLst>
              <a:ext uri="{FF2B5EF4-FFF2-40B4-BE49-F238E27FC236}">
                <a16:creationId xmlns:a16="http://schemas.microsoft.com/office/drawing/2014/main" id="{5B4E4CCF-D105-9228-ABFF-CD099B1A7E30}"/>
              </a:ext>
            </a:extLst>
          </p:cNvPr>
          <p:cNvSpPr txBox="1"/>
          <p:nvPr/>
        </p:nvSpPr>
        <p:spPr>
          <a:xfrm>
            <a:off x="3895724" y="6006956"/>
            <a:ext cx="1323975" cy="292388"/>
          </a:xfrm>
          <a:prstGeom prst="rect">
            <a:avLst/>
          </a:prstGeom>
          <a:noFill/>
        </p:spPr>
        <p:txBody>
          <a:bodyPr wrap="square" rtlCol="0">
            <a:spAutoFit/>
          </a:bodyPr>
          <a:lstStyle/>
          <a:p>
            <a:r>
              <a:rPr lang="en-US" sz="1300" dirty="0" err="1"/>
              <a:t>newbalanceDest</a:t>
            </a:r>
            <a:endParaRPr lang="en-IN" sz="1300" dirty="0"/>
          </a:p>
        </p:txBody>
      </p:sp>
    </p:spTree>
    <p:extLst>
      <p:ext uri="{BB962C8B-B14F-4D97-AF65-F5344CB8AC3E}">
        <p14:creationId xmlns:p14="http://schemas.microsoft.com/office/powerpoint/2010/main" val="1121747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C17D5-54E8-3483-3990-12708DB34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DCEC2-E559-3E6D-E24B-67D43C5F4703}"/>
              </a:ext>
            </a:extLst>
          </p:cNvPr>
          <p:cNvSpPr>
            <a:spLocks noGrp="1"/>
          </p:cNvSpPr>
          <p:nvPr>
            <p:ph type="title"/>
          </p:nvPr>
        </p:nvSpPr>
        <p:spPr>
          <a:xfrm>
            <a:off x="6419850" y="146465"/>
            <a:ext cx="5514975" cy="612775"/>
          </a:xfrm>
        </p:spPr>
        <p:txBody>
          <a:bodyPr>
            <a:noAutofit/>
          </a:bodyPr>
          <a:lstStyle/>
          <a:p>
            <a:r>
              <a:rPr lang="en-US" sz="2200" dirty="0">
                <a:solidFill>
                  <a:schemeClr val="bg1"/>
                </a:solidFill>
              </a:rPr>
              <a:t>CATEGORICAL FEATURES UNIVARIATE ANALYSIS</a:t>
            </a:r>
            <a:endParaRPr lang="en-IN" sz="2200" dirty="0">
              <a:solidFill>
                <a:schemeClr val="bg1"/>
              </a:solidFill>
            </a:endParaRPr>
          </a:p>
        </p:txBody>
      </p:sp>
      <p:sp>
        <p:nvSpPr>
          <p:cNvPr id="9" name="TextBox 8">
            <a:extLst>
              <a:ext uri="{FF2B5EF4-FFF2-40B4-BE49-F238E27FC236}">
                <a16:creationId xmlns:a16="http://schemas.microsoft.com/office/drawing/2014/main" id="{8885AECC-AD4D-093F-FFFD-A51B04629B6A}"/>
              </a:ext>
            </a:extLst>
          </p:cNvPr>
          <p:cNvSpPr txBox="1"/>
          <p:nvPr/>
        </p:nvSpPr>
        <p:spPr>
          <a:xfrm>
            <a:off x="6419851" y="866775"/>
            <a:ext cx="5772148" cy="2000548"/>
          </a:xfrm>
          <a:prstGeom prst="rect">
            <a:avLst/>
          </a:prstGeom>
          <a:noFill/>
        </p:spPr>
        <p:txBody>
          <a:bodyPr wrap="square" rtlCol="0">
            <a:spAutoFit/>
          </a:bodyPr>
          <a:lstStyle/>
          <a:p>
            <a:r>
              <a:rPr lang="en-US" sz="1400" b="1" dirty="0">
                <a:solidFill>
                  <a:schemeClr val="bg1"/>
                </a:solidFill>
              </a:rPr>
              <a:t>Transaction Type (`type`)</a:t>
            </a:r>
            <a:r>
              <a:rPr lang="en-US" sz="1400" dirty="0">
                <a:solidFill>
                  <a:schemeClr val="bg1"/>
                </a:solidFill>
              </a:rPr>
              <a:t>: The plot shows that CASH_IN (34.6%) and CASH_OUT (33.2%) are the most frequent transaction types, together accounting for over two-thirds of all transactions. TRANSFER (26.0%) is also a significant type, while DEBIT (6.1%) is relatively rare.</a:t>
            </a:r>
          </a:p>
          <a:p>
            <a:r>
              <a:rPr lang="en-US" sz="1400" dirty="0">
                <a:solidFill>
                  <a:schemeClr val="bg1"/>
                </a:solidFill>
              </a:rPr>
              <a:t>    </a:t>
            </a:r>
          </a:p>
          <a:p>
            <a:r>
              <a:rPr lang="en-US" sz="1400" dirty="0">
                <a:solidFill>
                  <a:schemeClr val="bg1"/>
                </a:solidFill>
              </a:rPr>
              <a:t>    </a:t>
            </a:r>
          </a:p>
          <a:p>
            <a:r>
              <a:rPr lang="en-US" sz="1400" b="1" dirty="0">
                <a:solidFill>
                  <a:schemeClr val="bg1"/>
                </a:solidFill>
              </a:rPr>
              <a:t>No. of Fraud (`</a:t>
            </a:r>
            <a:r>
              <a:rPr lang="en-US" sz="1400" b="1" dirty="0" err="1">
                <a:solidFill>
                  <a:schemeClr val="bg1"/>
                </a:solidFill>
              </a:rPr>
              <a:t>isFraud</a:t>
            </a:r>
            <a:r>
              <a:rPr lang="en-US" sz="1400" b="1" dirty="0">
                <a:solidFill>
                  <a:schemeClr val="bg1"/>
                </a:solidFill>
              </a:rPr>
              <a:t>`)</a:t>
            </a:r>
            <a:r>
              <a:rPr lang="en-US" sz="1400" dirty="0">
                <a:solidFill>
                  <a:schemeClr val="bg1"/>
                </a:solidFill>
              </a:rPr>
              <a:t>:  A massive 79.7% of transactions are legitimate (</a:t>
            </a:r>
            <a:r>
              <a:rPr lang="en-US" sz="1400" dirty="0" err="1">
                <a:solidFill>
                  <a:schemeClr val="bg1"/>
                </a:solidFill>
              </a:rPr>
              <a:t>isFraud</a:t>
            </a:r>
            <a:r>
              <a:rPr lang="en-US" sz="1400" dirty="0">
                <a:solidFill>
                  <a:schemeClr val="bg1"/>
                </a:solidFill>
              </a:rPr>
              <a:t> = 0), while only 20.3% are fraudulent (</a:t>
            </a:r>
            <a:r>
              <a:rPr lang="en-US" sz="1400" dirty="0" err="1">
                <a:solidFill>
                  <a:schemeClr val="bg1"/>
                </a:solidFill>
              </a:rPr>
              <a:t>isFraud</a:t>
            </a:r>
            <a:r>
              <a:rPr lang="en-US" sz="1400" dirty="0">
                <a:solidFill>
                  <a:schemeClr val="bg1"/>
                </a:solidFill>
              </a:rPr>
              <a:t> = 1).</a:t>
            </a:r>
          </a:p>
          <a:p>
            <a:endParaRPr lang="en-IN" sz="1100" dirty="0">
              <a:solidFill>
                <a:schemeClr val="bg1"/>
              </a:solidFill>
            </a:endParaRPr>
          </a:p>
        </p:txBody>
      </p:sp>
      <p:pic>
        <p:nvPicPr>
          <p:cNvPr id="6" name="Picture 5">
            <a:extLst>
              <a:ext uri="{FF2B5EF4-FFF2-40B4-BE49-F238E27FC236}">
                <a16:creationId xmlns:a16="http://schemas.microsoft.com/office/drawing/2014/main" id="{1CECEBFD-5CA1-1B44-7121-0A8F07303193}"/>
              </a:ext>
            </a:extLst>
          </p:cNvPr>
          <p:cNvPicPr>
            <a:picLocks noChangeAspect="1"/>
          </p:cNvPicPr>
          <p:nvPr/>
        </p:nvPicPr>
        <p:blipFill>
          <a:blip r:embed="rId2"/>
          <a:stretch>
            <a:fillRect/>
          </a:stretch>
        </p:blipFill>
        <p:spPr>
          <a:xfrm>
            <a:off x="57149" y="28576"/>
            <a:ext cx="6002449" cy="4381500"/>
          </a:xfrm>
          <a:prstGeom prst="rect">
            <a:avLst/>
          </a:prstGeom>
        </p:spPr>
      </p:pic>
    </p:spTree>
    <p:extLst>
      <p:ext uri="{BB962C8B-B14F-4D97-AF65-F5344CB8AC3E}">
        <p14:creationId xmlns:p14="http://schemas.microsoft.com/office/powerpoint/2010/main" val="1480817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3F986-8649-52A7-1556-4B1AF2667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A6583-F61B-1F47-5F95-F9C2EBAD32C4}"/>
              </a:ext>
            </a:extLst>
          </p:cNvPr>
          <p:cNvSpPr>
            <a:spLocks noGrp="1"/>
          </p:cNvSpPr>
          <p:nvPr>
            <p:ph type="title"/>
          </p:nvPr>
        </p:nvSpPr>
        <p:spPr>
          <a:xfrm>
            <a:off x="6419850" y="146465"/>
            <a:ext cx="5514975" cy="612775"/>
          </a:xfrm>
        </p:spPr>
        <p:txBody>
          <a:bodyPr>
            <a:noAutofit/>
          </a:bodyPr>
          <a:lstStyle/>
          <a:p>
            <a:r>
              <a:rPr lang="en-US" sz="2200" dirty="0">
                <a:solidFill>
                  <a:schemeClr val="bg1"/>
                </a:solidFill>
              </a:rPr>
              <a:t>NUMERICAL FEATURES BIVARIATE ANALYSIS</a:t>
            </a:r>
            <a:endParaRPr lang="en-IN" sz="2200" dirty="0">
              <a:solidFill>
                <a:schemeClr val="bg1"/>
              </a:solidFill>
            </a:endParaRPr>
          </a:p>
        </p:txBody>
      </p:sp>
      <p:sp>
        <p:nvSpPr>
          <p:cNvPr id="9" name="TextBox 8">
            <a:extLst>
              <a:ext uri="{FF2B5EF4-FFF2-40B4-BE49-F238E27FC236}">
                <a16:creationId xmlns:a16="http://schemas.microsoft.com/office/drawing/2014/main" id="{F47D5C8D-8849-533A-533F-C55A39E68F0F}"/>
              </a:ext>
            </a:extLst>
          </p:cNvPr>
          <p:cNvSpPr txBox="1"/>
          <p:nvPr/>
        </p:nvSpPr>
        <p:spPr>
          <a:xfrm>
            <a:off x="6419851" y="866775"/>
            <a:ext cx="5772148" cy="4131900"/>
          </a:xfrm>
          <a:prstGeom prst="rect">
            <a:avLst/>
          </a:prstGeom>
          <a:noFill/>
        </p:spPr>
        <p:txBody>
          <a:bodyPr wrap="square" rtlCol="0">
            <a:spAutoFit/>
          </a:bodyPr>
          <a:lstStyle/>
          <a:p>
            <a:r>
              <a:rPr lang="en-US" sz="1400" dirty="0">
                <a:solidFill>
                  <a:schemeClr val="bg1"/>
                </a:solidFill>
              </a:rPr>
              <a:t>The Bivariate Analysis of continuous features against the </a:t>
            </a:r>
            <a:r>
              <a:rPr lang="en-US" sz="1400" dirty="0" err="1">
                <a:solidFill>
                  <a:schemeClr val="bg1"/>
                </a:solidFill>
              </a:rPr>
              <a:t>isFraud</a:t>
            </a:r>
            <a:r>
              <a:rPr lang="en-US" sz="1400" dirty="0">
                <a:solidFill>
                  <a:schemeClr val="bg1"/>
                </a:solidFill>
              </a:rPr>
              <a:t> target reveals highly actionable insights. The distributions of fraudulent and non-fraudulent transactions are remarkably different across all variables.</a:t>
            </a:r>
          </a:p>
          <a:p>
            <a:br>
              <a:rPr lang="en-US" sz="1400" dirty="0">
                <a:solidFill>
                  <a:schemeClr val="bg1"/>
                </a:solidFill>
              </a:rPr>
            </a:br>
            <a:endParaRPr lang="en-US" sz="1400" dirty="0">
              <a:solidFill>
                <a:schemeClr val="bg1"/>
              </a:solidFill>
            </a:endParaRPr>
          </a:p>
          <a:p>
            <a:r>
              <a:rPr lang="en-US" sz="1400" dirty="0">
                <a:solidFill>
                  <a:schemeClr val="bg1"/>
                </a:solidFill>
              </a:rPr>
              <a:t>The most powerful fraud signals are:</a:t>
            </a:r>
          </a:p>
          <a:p>
            <a:br>
              <a:rPr lang="en-US" sz="1400" dirty="0">
                <a:solidFill>
                  <a:schemeClr val="bg1"/>
                </a:solidFill>
              </a:rPr>
            </a:br>
            <a:endParaRPr lang="en-US" sz="1400" dirty="0">
              <a:solidFill>
                <a:schemeClr val="bg1"/>
              </a:solidFill>
            </a:endParaRPr>
          </a:p>
          <a:p>
            <a:r>
              <a:rPr lang="en-US" sz="1400" dirty="0">
                <a:solidFill>
                  <a:schemeClr val="bg1"/>
                </a:solidFill>
              </a:rPr>
              <a:t> 1. </a:t>
            </a:r>
            <a:r>
              <a:rPr lang="en-US" sz="1400" b="1" dirty="0">
                <a:solidFill>
                  <a:schemeClr val="bg1"/>
                </a:solidFill>
              </a:rPr>
              <a:t>Time:</a:t>
            </a:r>
            <a:r>
              <a:rPr lang="en-US" sz="1400" dirty="0">
                <a:solidFill>
                  <a:schemeClr val="bg1"/>
                </a:solidFill>
              </a:rPr>
              <a:t> Fraudulent transactions occur later in the dataset (step).</a:t>
            </a:r>
          </a:p>
          <a:p>
            <a:br>
              <a:rPr lang="en-US" sz="1400" dirty="0">
                <a:solidFill>
                  <a:schemeClr val="bg1"/>
                </a:solidFill>
              </a:rPr>
            </a:br>
            <a:endParaRPr lang="en-US" sz="1400" dirty="0">
              <a:solidFill>
                <a:schemeClr val="bg1"/>
              </a:solidFill>
            </a:endParaRPr>
          </a:p>
          <a:p>
            <a:r>
              <a:rPr lang="en-US" sz="1400" dirty="0">
                <a:solidFill>
                  <a:schemeClr val="bg1"/>
                </a:solidFill>
              </a:rPr>
              <a:t> 2. </a:t>
            </a:r>
            <a:r>
              <a:rPr lang="en-US" sz="1400" b="1" dirty="0">
                <a:solidFill>
                  <a:schemeClr val="bg1"/>
                </a:solidFill>
              </a:rPr>
              <a:t>Amount: </a:t>
            </a:r>
            <a:r>
              <a:rPr lang="en-US" sz="1400" dirty="0">
                <a:solidFill>
                  <a:schemeClr val="bg1"/>
                </a:solidFill>
              </a:rPr>
              <a:t>They involve significantly higher transaction amounts.</a:t>
            </a:r>
          </a:p>
          <a:p>
            <a:br>
              <a:rPr lang="en-US" sz="1400" dirty="0">
                <a:solidFill>
                  <a:schemeClr val="bg1"/>
                </a:solidFill>
              </a:rPr>
            </a:br>
            <a:endParaRPr lang="en-US" sz="1400" dirty="0">
              <a:solidFill>
                <a:schemeClr val="bg1"/>
              </a:solidFill>
            </a:endParaRPr>
          </a:p>
          <a:p>
            <a:r>
              <a:rPr lang="en-US" sz="1400" dirty="0">
                <a:solidFill>
                  <a:schemeClr val="bg1"/>
                </a:solidFill>
              </a:rPr>
              <a:t> 3. </a:t>
            </a:r>
            <a:r>
              <a:rPr lang="en-US" sz="1400" b="1" dirty="0">
                <a:solidFill>
                  <a:schemeClr val="bg1"/>
                </a:solidFill>
              </a:rPr>
              <a:t>Balance Discrepancies: </a:t>
            </a:r>
            <a:r>
              <a:rPr lang="en-US" sz="1400" dirty="0">
                <a:solidFill>
                  <a:schemeClr val="bg1"/>
                </a:solidFill>
              </a:rPr>
              <a:t>They are characterized by a drastic reduction in the source account's balance (</a:t>
            </a:r>
            <a:r>
              <a:rPr lang="en-US" sz="1400" dirty="0" err="1">
                <a:solidFill>
                  <a:schemeClr val="bg1"/>
                </a:solidFill>
              </a:rPr>
              <a:t>oldbalanceOrig</a:t>
            </a:r>
            <a:r>
              <a:rPr lang="en-US" sz="1400" dirty="0">
                <a:solidFill>
                  <a:schemeClr val="bg1"/>
                </a:solidFill>
              </a:rPr>
              <a:t> to </a:t>
            </a:r>
            <a:r>
              <a:rPr lang="en-US" sz="1400" dirty="0" err="1">
                <a:solidFill>
                  <a:schemeClr val="bg1"/>
                </a:solidFill>
              </a:rPr>
              <a:t>newbalanceOrig</a:t>
            </a:r>
            <a:r>
              <a:rPr lang="en-US" sz="1400" dirty="0">
                <a:solidFill>
                  <a:schemeClr val="bg1"/>
                </a:solidFill>
              </a:rPr>
              <a:t>) and a substantial increase in the destination account's balance from a low starting point (</a:t>
            </a:r>
            <a:r>
              <a:rPr lang="en-US" sz="1400" dirty="0" err="1">
                <a:solidFill>
                  <a:schemeClr val="bg1"/>
                </a:solidFill>
              </a:rPr>
              <a:t>oldbalanceDest</a:t>
            </a:r>
            <a:r>
              <a:rPr lang="en-US" sz="1400" dirty="0">
                <a:solidFill>
                  <a:schemeClr val="bg1"/>
                </a:solidFill>
              </a:rPr>
              <a:t> to </a:t>
            </a:r>
            <a:r>
              <a:rPr lang="en-US" sz="1400" dirty="0" err="1">
                <a:solidFill>
                  <a:schemeClr val="bg1"/>
                </a:solidFill>
              </a:rPr>
              <a:t>newbalanceDest</a:t>
            </a:r>
            <a:r>
              <a:rPr lang="en-US" sz="1400" dirty="0">
                <a:solidFill>
                  <a:schemeClr val="bg1"/>
                </a:solidFill>
              </a:rPr>
              <a:t>).</a:t>
            </a:r>
          </a:p>
          <a:p>
            <a:endParaRPr lang="en-IN" sz="1000" dirty="0">
              <a:solidFill>
                <a:schemeClr val="bg1"/>
              </a:solidFill>
            </a:endParaRPr>
          </a:p>
        </p:txBody>
      </p:sp>
      <p:pic>
        <p:nvPicPr>
          <p:cNvPr id="4" name="Picture 3">
            <a:extLst>
              <a:ext uri="{FF2B5EF4-FFF2-40B4-BE49-F238E27FC236}">
                <a16:creationId xmlns:a16="http://schemas.microsoft.com/office/drawing/2014/main" id="{5DB79FBB-277D-626E-8233-7CD18A666B08}"/>
              </a:ext>
            </a:extLst>
          </p:cNvPr>
          <p:cNvPicPr>
            <a:picLocks noChangeAspect="1"/>
          </p:cNvPicPr>
          <p:nvPr/>
        </p:nvPicPr>
        <p:blipFill>
          <a:blip r:embed="rId2"/>
          <a:stretch>
            <a:fillRect/>
          </a:stretch>
        </p:blipFill>
        <p:spPr>
          <a:xfrm>
            <a:off x="1" y="38100"/>
            <a:ext cx="6095999" cy="6791325"/>
          </a:xfrm>
          <a:prstGeom prst="rect">
            <a:avLst/>
          </a:prstGeom>
        </p:spPr>
      </p:pic>
    </p:spTree>
    <p:extLst>
      <p:ext uri="{BB962C8B-B14F-4D97-AF65-F5344CB8AC3E}">
        <p14:creationId xmlns:p14="http://schemas.microsoft.com/office/powerpoint/2010/main" val="4078605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997E6-D7F0-B31E-2C83-C707DEBA7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4358E-0517-481B-9D44-FF3FF0C15769}"/>
              </a:ext>
            </a:extLst>
          </p:cNvPr>
          <p:cNvSpPr>
            <a:spLocks noGrp="1"/>
          </p:cNvSpPr>
          <p:nvPr>
            <p:ph type="title"/>
          </p:nvPr>
        </p:nvSpPr>
        <p:spPr>
          <a:xfrm>
            <a:off x="6419850" y="146465"/>
            <a:ext cx="5514975" cy="612775"/>
          </a:xfrm>
        </p:spPr>
        <p:txBody>
          <a:bodyPr>
            <a:noAutofit/>
          </a:bodyPr>
          <a:lstStyle/>
          <a:p>
            <a:r>
              <a:rPr lang="en-US" sz="2200" dirty="0">
                <a:solidFill>
                  <a:schemeClr val="bg1"/>
                </a:solidFill>
              </a:rPr>
              <a:t>CATEGORICAL FEATURES BIVARIATE ANALYSIS</a:t>
            </a:r>
            <a:endParaRPr lang="en-IN" sz="2200" dirty="0">
              <a:solidFill>
                <a:schemeClr val="bg1"/>
              </a:solidFill>
            </a:endParaRPr>
          </a:p>
        </p:txBody>
      </p:sp>
      <p:sp>
        <p:nvSpPr>
          <p:cNvPr id="9" name="TextBox 8">
            <a:extLst>
              <a:ext uri="{FF2B5EF4-FFF2-40B4-BE49-F238E27FC236}">
                <a16:creationId xmlns:a16="http://schemas.microsoft.com/office/drawing/2014/main" id="{48B93361-99BF-E2E1-AF60-C2717A5E26B2}"/>
              </a:ext>
            </a:extLst>
          </p:cNvPr>
          <p:cNvSpPr txBox="1"/>
          <p:nvPr/>
        </p:nvSpPr>
        <p:spPr>
          <a:xfrm>
            <a:off x="6419851" y="866775"/>
            <a:ext cx="5772148" cy="3231654"/>
          </a:xfrm>
          <a:prstGeom prst="rect">
            <a:avLst/>
          </a:prstGeom>
          <a:noFill/>
        </p:spPr>
        <p:txBody>
          <a:bodyPr wrap="square" rtlCol="0">
            <a:spAutoFit/>
          </a:bodyPr>
          <a:lstStyle/>
          <a:p>
            <a:r>
              <a:rPr lang="en-US" sz="1400" b="1" dirty="0">
                <a:solidFill>
                  <a:schemeClr val="bg1"/>
                </a:solidFill>
              </a:rPr>
              <a:t>CASH_IN  have 0% Fraud:</a:t>
            </a:r>
            <a:r>
              <a:rPr lang="en-US" sz="1400" dirty="0">
                <a:solidFill>
                  <a:schemeClr val="bg1"/>
                </a:solidFill>
              </a:rPr>
              <a:t> The most significant finding is that CASH_IN  transaction types have zero fraudulent cases in the dataset. </a:t>
            </a:r>
          </a:p>
          <a:p>
            <a:endParaRPr lang="en-US" sz="1400" b="1" dirty="0">
              <a:solidFill>
                <a:schemeClr val="bg1"/>
              </a:solidFill>
            </a:endParaRPr>
          </a:p>
          <a:p>
            <a:r>
              <a:rPr lang="en-US" sz="1400" b="1" dirty="0">
                <a:solidFill>
                  <a:schemeClr val="bg1"/>
                </a:solidFill>
              </a:rPr>
              <a:t>DEBIT also has 0% Fraud:</a:t>
            </a:r>
            <a:r>
              <a:rPr lang="en-US" sz="1400" dirty="0">
                <a:solidFill>
                  <a:schemeClr val="bg1"/>
                </a:solidFill>
              </a:rPr>
              <a:t> The DEBIT transaction type, which represents a small portion of the overall transactions, also shows zero fraud.</a:t>
            </a:r>
          </a:p>
          <a:p>
            <a:endParaRPr lang="en-US" sz="1400" b="1" dirty="0">
              <a:solidFill>
                <a:schemeClr val="bg1"/>
              </a:solidFill>
            </a:endParaRPr>
          </a:p>
          <a:p>
            <a:r>
              <a:rPr lang="en-US" sz="1400" b="1" dirty="0">
                <a:solidFill>
                  <a:schemeClr val="bg1"/>
                </a:solidFill>
              </a:rPr>
              <a:t>CASH_OUT and TRANSFER are associated with Fraud:</a:t>
            </a:r>
            <a:r>
              <a:rPr lang="en-US" sz="1400" dirty="0">
                <a:solidFill>
                  <a:schemeClr val="bg1"/>
                </a:solidFill>
              </a:rPr>
              <a:t> In stark contrast, CASH_OUT and TRANSFER transactions are where all fraudulent activity is concentrated.</a:t>
            </a:r>
          </a:p>
          <a:p>
            <a:endParaRPr lang="en-US" sz="1400" dirty="0">
              <a:solidFill>
                <a:schemeClr val="bg1"/>
              </a:solidFill>
            </a:endParaRPr>
          </a:p>
          <a:p>
            <a:pPr marL="285750" indent="-285750">
              <a:buFont typeface="Arial" panose="020B0604020202020204" pitchFamily="34" charset="0"/>
              <a:buChar char="•"/>
            </a:pPr>
            <a:r>
              <a:rPr lang="en-US" sz="1400" b="1" dirty="0">
                <a:solidFill>
                  <a:schemeClr val="bg1"/>
                </a:solidFill>
              </a:rPr>
              <a:t>CASH_OUT</a:t>
            </a:r>
            <a:r>
              <a:rPr lang="en-US" sz="1400" dirty="0">
                <a:solidFill>
                  <a:schemeClr val="bg1"/>
                </a:solidFill>
              </a:rPr>
              <a:t> : transactions have a fraud rate of </a:t>
            </a:r>
            <a:r>
              <a:rPr lang="en-US" sz="1400" b="1" dirty="0">
                <a:solidFill>
                  <a:schemeClr val="bg1"/>
                </a:solidFill>
              </a:rPr>
              <a:t>30.9%</a:t>
            </a:r>
            <a:r>
              <a:rPr lang="en-US" sz="1400" dirty="0">
                <a:solidFill>
                  <a:schemeClr val="bg1"/>
                </a:solidFill>
              </a:rPr>
              <a:t> (578 out of 1,871).</a:t>
            </a:r>
            <a:br>
              <a:rPr lang="en-US" sz="1400" dirty="0">
                <a:solidFill>
                  <a:schemeClr val="bg1"/>
                </a:solidFill>
              </a:rPr>
            </a:br>
            <a:endParaRPr lang="en-US" sz="1400" dirty="0">
              <a:solidFill>
                <a:schemeClr val="bg1"/>
              </a:solidFill>
            </a:endParaRPr>
          </a:p>
          <a:p>
            <a:pPr marL="285750" indent="-285750">
              <a:buFont typeface="Arial" panose="020B0604020202020204" pitchFamily="34" charset="0"/>
              <a:buChar char="•"/>
            </a:pPr>
            <a:r>
              <a:rPr lang="en-US" sz="1400" b="1" dirty="0">
                <a:solidFill>
                  <a:schemeClr val="bg1"/>
                </a:solidFill>
              </a:rPr>
              <a:t>TRANSFER: </a:t>
            </a:r>
            <a:r>
              <a:rPr lang="en-US" sz="1400" dirty="0">
                <a:solidFill>
                  <a:schemeClr val="bg1"/>
                </a:solidFill>
              </a:rPr>
              <a:t>transactions have the highest fraud rate at </a:t>
            </a:r>
            <a:r>
              <a:rPr lang="en-US" sz="1400" b="1" dirty="0">
                <a:solidFill>
                  <a:schemeClr val="bg1"/>
                </a:solidFill>
              </a:rPr>
              <a:t>38.5%</a:t>
            </a:r>
            <a:r>
              <a:rPr lang="en-US" sz="1400" dirty="0">
                <a:solidFill>
                  <a:schemeClr val="bg1"/>
                </a:solidFill>
              </a:rPr>
              <a:t>(564 out of 1,464).</a:t>
            </a:r>
          </a:p>
          <a:p>
            <a:endParaRPr lang="en-IN" sz="800" dirty="0">
              <a:solidFill>
                <a:schemeClr val="bg1"/>
              </a:solidFill>
            </a:endParaRPr>
          </a:p>
        </p:txBody>
      </p:sp>
      <p:pic>
        <p:nvPicPr>
          <p:cNvPr id="7" name="Picture 6">
            <a:extLst>
              <a:ext uri="{FF2B5EF4-FFF2-40B4-BE49-F238E27FC236}">
                <a16:creationId xmlns:a16="http://schemas.microsoft.com/office/drawing/2014/main" id="{E66F665E-0B73-2DA1-81A4-87D7B60F160E}"/>
              </a:ext>
            </a:extLst>
          </p:cNvPr>
          <p:cNvPicPr>
            <a:picLocks noChangeAspect="1"/>
          </p:cNvPicPr>
          <p:nvPr/>
        </p:nvPicPr>
        <p:blipFill>
          <a:blip r:embed="rId2"/>
          <a:stretch>
            <a:fillRect/>
          </a:stretch>
        </p:blipFill>
        <p:spPr>
          <a:xfrm>
            <a:off x="512152" y="146465"/>
            <a:ext cx="4657735" cy="3749260"/>
          </a:xfrm>
          <a:prstGeom prst="rect">
            <a:avLst/>
          </a:prstGeom>
        </p:spPr>
      </p:pic>
    </p:spTree>
    <p:extLst>
      <p:ext uri="{BB962C8B-B14F-4D97-AF65-F5344CB8AC3E}">
        <p14:creationId xmlns:p14="http://schemas.microsoft.com/office/powerpoint/2010/main" val="3625152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09F9-C280-B0AE-B270-0567CE4330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5B7C1-72B0-E762-68E7-C3E0E57EBE9B}"/>
              </a:ext>
            </a:extLst>
          </p:cNvPr>
          <p:cNvSpPr>
            <a:spLocks noGrp="1"/>
          </p:cNvSpPr>
          <p:nvPr>
            <p:ph type="title"/>
          </p:nvPr>
        </p:nvSpPr>
        <p:spPr>
          <a:xfrm>
            <a:off x="6419850" y="146465"/>
            <a:ext cx="5514975" cy="612775"/>
          </a:xfrm>
        </p:spPr>
        <p:txBody>
          <a:bodyPr>
            <a:noAutofit/>
          </a:bodyPr>
          <a:lstStyle/>
          <a:p>
            <a:r>
              <a:rPr lang="en-US" sz="2200" dirty="0">
                <a:solidFill>
                  <a:schemeClr val="bg1"/>
                </a:solidFill>
              </a:rPr>
              <a:t>MULTIVARIATE ANALYSIS</a:t>
            </a:r>
            <a:endParaRPr lang="en-IN" sz="2200" dirty="0">
              <a:solidFill>
                <a:schemeClr val="bg1"/>
              </a:solidFill>
            </a:endParaRPr>
          </a:p>
        </p:txBody>
      </p:sp>
      <p:sp>
        <p:nvSpPr>
          <p:cNvPr id="9" name="TextBox 8">
            <a:extLst>
              <a:ext uri="{FF2B5EF4-FFF2-40B4-BE49-F238E27FC236}">
                <a16:creationId xmlns:a16="http://schemas.microsoft.com/office/drawing/2014/main" id="{C9549A74-0BE0-E682-FD99-1FCA27DDDAEE}"/>
              </a:ext>
            </a:extLst>
          </p:cNvPr>
          <p:cNvSpPr txBox="1"/>
          <p:nvPr/>
        </p:nvSpPr>
        <p:spPr>
          <a:xfrm>
            <a:off x="6419851" y="866775"/>
            <a:ext cx="5772148" cy="3262432"/>
          </a:xfrm>
          <a:prstGeom prst="rect">
            <a:avLst/>
          </a:prstGeom>
          <a:noFill/>
        </p:spPr>
        <p:txBody>
          <a:bodyPr wrap="square" rtlCol="0">
            <a:spAutoFit/>
          </a:bodyPr>
          <a:lstStyle/>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High Positive Correlation on Target: `Amount`</a:t>
            </a:r>
          </a:p>
          <a:p>
            <a:pPr marL="285750" indent="-285750">
              <a:buFont typeface="Arial" panose="020B0604020202020204" pitchFamily="34" charset="0"/>
              <a:buChar char="•"/>
            </a:pPr>
            <a:r>
              <a:rPr lang="en-US" dirty="0">
                <a:solidFill>
                  <a:schemeClr val="bg1"/>
                </a:solidFill>
              </a:rPr>
              <a:t>Moderate Positive Correlation on Target: `Old Balance Origin`</a:t>
            </a:r>
          </a:p>
          <a:p>
            <a:pPr marL="285750" indent="-285750">
              <a:buFont typeface="Arial" panose="020B0604020202020204" pitchFamily="34" charset="0"/>
              <a:buChar char="•"/>
            </a:pPr>
            <a:r>
              <a:rPr lang="en-US" dirty="0">
                <a:solidFill>
                  <a:schemeClr val="bg1"/>
                </a:solidFill>
              </a:rPr>
              <a:t>High Negative Correlation on Target: `New Balance Origin`</a:t>
            </a:r>
          </a:p>
          <a:p>
            <a:pPr marL="285750" indent="-285750">
              <a:buFont typeface="Arial" panose="020B0604020202020204" pitchFamily="34" charset="0"/>
              <a:buChar char="•"/>
            </a:pPr>
            <a:r>
              <a:rPr lang="en-US" dirty="0">
                <a:solidFill>
                  <a:schemeClr val="bg1"/>
                </a:solidFill>
              </a:rPr>
              <a:t>Moderate Negative Correlation on Target: `Old Balance Destination`</a:t>
            </a:r>
          </a:p>
          <a:p>
            <a:pPr marL="285750" indent="-285750">
              <a:buFont typeface="Arial" panose="020B0604020202020204" pitchFamily="34" charset="0"/>
              <a:buChar char="•"/>
            </a:pPr>
            <a:r>
              <a:rPr lang="en-US" dirty="0">
                <a:solidFill>
                  <a:schemeClr val="bg1"/>
                </a:solidFill>
              </a:rPr>
              <a:t>Less Correlation on Target: `New Balance Destination`</a:t>
            </a:r>
          </a:p>
          <a:p>
            <a:pPr marL="285750" indent="-285750">
              <a:buFont typeface="Arial" panose="020B0604020202020204" pitchFamily="34" charset="0"/>
              <a:buChar char="•"/>
            </a:pPr>
            <a:endParaRPr lang="en-US" dirty="0">
              <a:solidFill>
                <a:schemeClr val="bg1"/>
              </a:solidFill>
            </a:endParaRPr>
          </a:p>
          <a:p>
            <a:r>
              <a:rPr lang="en-US" dirty="0">
                <a:solidFill>
                  <a:schemeClr val="bg1"/>
                </a:solidFill>
              </a:rPr>
              <a:t>Target = ‘</a:t>
            </a:r>
            <a:r>
              <a:rPr lang="en-US" dirty="0" err="1">
                <a:solidFill>
                  <a:schemeClr val="bg1"/>
                </a:solidFill>
              </a:rPr>
              <a:t>isFraud</a:t>
            </a:r>
            <a:r>
              <a:rPr lang="en-US" dirty="0">
                <a:solidFill>
                  <a:schemeClr val="bg1"/>
                </a:solidFill>
              </a:rPr>
              <a:t>’</a:t>
            </a:r>
          </a:p>
          <a:p>
            <a:endParaRPr lang="en-IN" sz="800" dirty="0">
              <a:solidFill>
                <a:schemeClr val="bg1"/>
              </a:solidFill>
            </a:endParaRPr>
          </a:p>
        </p:txBody>
      </p:sp>
      <p:pic>
        <p:nvPicPr>
          <p:cNvPr id="4" name="Picture 3">
            <a:extLst>
              <a:ext uri="{FF2B5EF4-FFF2-40B4-BE49-F238E27FC236}">
                <a16:creationId xmlns:a16="http://schemas.microsoft.com/office/drawing/2014/main" id="{BD1221F2-C687-3E4A-9BE4-81381556F3DB}"/>
              </a:ext>
            </a:extLst>
          </p:cNvPr>
          <p:cNvPicPr>
            <a:picLocks noChangeAspect="1"/>
          </p:cNvPicPr>
          <p:nvPr/>
        </p:nvPicPr>
        <p:blipFill>
          <a:blip r:embed="rId2"/>
          <a:stretch>
            <a:fillRect/>
          </a:stretch>
        </p:blipFill>
        <p:spPr>
          <a:xfrm>
            <a:off x="257175" y="409575"/>
            <a:ext cx="5719465" cy="5229225"/>
          </a:xfrm>
          <a:prstGeom prst="rect">
            <a:avLst/>
          </a:prstGeom>
        </p:spPr>
      </p:pic>
    </p:spTree>
    <p:extLst>
      <p:ext uri="{BB962C8B-B14F-4D97-AF65-F5344CB8AC3E}">
        <p14:creationId xmlns:p14="http://schemas.microsoft.com/office/powerpoint/2010/main" val="4158299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CC6A2-6EBD-77B5-6967-C5FF7E5C9C9A}"/>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9A7ECCA8-9EB5-F1AC-0732-47CFEC1602F9}"/>
              </a:ext>
            </a:extLst>
          </p:cNvPr>
          <p:cNvSpPr>
            <a:spLocks noGrp="1"/>
          </p:cNvSpPr>
          <p:nvPr>
            <p:ph type="title"/>
          </p:nvPr>
        </p:nvSpPr>
        <p:spPr>
          <a:xfrm>
            <a:off x="638175" y="2049670"/>
            <a:ext cx="3029261" cy="2562226"/>
          </a:xfrm>
        </p:spPr>
        <p:txBody>
          <a:bodyPr/>
          <a:lstStyle/>
          <a:p>
            <a:r>
              <a:rPr lang="en-US" dirty="0"/>
              <a:t>DATA PREPROCESSING</a:t>
            </a:r>
          </a:p>
        </p:txBody>
      </p:sp>
      <p:sp>
        <p:nvSpPr>
          <p:cNvPr id="5" name="TextBox 4">
            <a:extLst>
              <a:ext uri="{FF2B5EF4-FFF2-40B4-BE49-F238E27FC236}">
                <a16:creationId xmlns:a16="http://schemas.microsoft.com/office/drawing/2014/main" id="{BFC649CC-2E1E-27E2-F286-F153589527C5}"/>
              </a:ext>
            </a:extLst>
          </p:cNvPr>
          <p:cNvSpPr txBox="1"/>
          <p:nvPr/>
        </p:nvSpPr>
        <p:spPr>
          <a:xfrm>
            <a:off x="4488024" y="218881"/>
            <a:ext cx="7380126" cy="6217087"/>
          </a:xfrm>
          <a:prstGeom prst="rect">
            <a:avLst/>
          </a:prstGeom>
          <a:noFill/>
        </p:spPr>
        <p:txBody>
          <a:bodyPr wrap="square" rtlCol="0">
            <a:spAutoFit/>
          </a:bodyPr>
          <a:lstStyle/>
          <a:p>
            <a:r>
              <a:rPr lang="en-IN" b="1" dirty="0"/>
              <a:t>Preprocessing:</a:t>
            </a:r>
          </a:p>
          <a:p>
            <a:pPr marL="285750" indent="-285750">
              <a:buFont typeface="Arial" panose="020B0604020202020204" pitchFamily="34" charset="0"/>
              <a:buChar char="•"/>
            </a:pPr>
            <a:r>
              <a:rPr lang="en-IN" sz="1600" b="1" dirty="0"/>
              <a:t>Irrelevant Feature Removal : </a:t>
            </a:r>
            <a:r>
              <a:rPr lang="en-IN" sz="1600" dirty="0"/>
              <a:t>Features such as </a:t>
            </a:r>
            <a:r>
              <a:rPr lang="en-IN" sz="1600" b="1" dirty="0"/>
              <a:t>‘</a:t>
            </a:r>
            <a:r>
              <a:rPr lang="en-IN" sz="1600" b="1" dirty="0" err="1"/>
              <a:t>nameOrg</a:t>
            </a:r>
            <a:r>
              <a:rPr lang="en-IN" sz="1600" b="1" dirty="0"/>
              <a:t>’ </a:t>
            </a:r>
            <a:r>
              <a:rPr lang="en-IN" sz="1600" dirty="0"/>
              <a:t>&amp;</a:t>
            </a:r>
            <a:r>
              <a:rPr lang="en-IN" sz="1600" b="1" dirty="0"/>
              <a:t> ‘</a:t>
            </a:r>
            <a:r>
              <a:rPr lang="en-IN" sz="1600" b="1" dirty="0" err="1"/>
              <a:t>nameDest</a:t>
            </a:r>
            <a:r>
              <a:rPr lang="en-IN" sz="1600" b="1" dirty="0"/>
              <a:t>’ </a:t>
            </a:r>
            <a:r>
              <a:rPr lang="en-IN" sz="1600" dirty="0"/>
              <a:t>found to be irrelevant, hence removed.</a:t>
            </a:r>
          </a:p>
          <a:p>
            <a:pPr marL="285750" indent="-285750">
              <a:buFont typeface="Arial" panose="020B0604020202020204" pitchFamily="34" charset="0"/>
              <a:buChar char="•"/>
            </a:pPr>
            <a:r>
              <a:rPr lang="en-IN" sz="1600" b="1" dirty="0"/>
              <a:t>Missing Value Treatment : No missing values </a:t>
            </a:r>
            <a:r>
              <a:rPr lang="en-IN" sz="1600" dirty="0"/>
              <a:t>are found in the dataset</a:t>
            </a:r>
          </a:p>
          <a:p>
            <a:pPr marL="285750" indent="-285750">
              <a:buFont typeface="Arial" panose="020B0604020202020204" pitchFamily="34" charset="0"/>
              <a:buChar char="•"/>
            </a:pPr>
            <a:r>
              <a:rPr lang="en-IN" sz="1600" b="1" dirty="0"/>
              <a:t>Outlier Treatment : </a:t>
            </a:r>
            <a:r>
              <a:rPr lang="en-US" sz="1600" dirty="0"/>
              <a:t>Checked outliers using </a:t>
            </a:r>
            <a:r>
              <a:rPr lang="en-US" sz="1600" b="1" dirty="0"/>
              <a:t>IQR </a:t>
            </a:r>
            <a:r>
              <a:rPr lang="en-US" sz="1600" dirty="0"/>
              <a:t>method for the continuous features and upon identifying outliers, nature of algorithm, and given small dataset size direct removal of outliers might not be best approach. Instead, we will apply </a:t>
            </a:r>
            <a:r>
              <a:rPr lang="en-US" sz="1600" b="1" dirty="0"/>
              <a:t>Box-Cox</a:t>
            </a:r>
            <a:r>
              <a:rPr lang="en-US" sz="1600" dirty="0"/>
              <a:t> transformation to stabilize variance and make the data more normal-distribution.</a:t>
            </a:r>
            <a:endParaRPr lang="en-IN" sz="1600" b="1" dirty="0"/>
          </a:p>
          <a:p>
            <a:pPr marL="285750" indent="-285750">
              <a:buFont typeface="Arial" panose="020B0604020202020204" pitchFamily="34" charset="0"/>
              <a:buChar char="•"/>
            </a:pPr>
            <a:r>
              <a:rPr lang="en-IN" sz="1600" b="1" dirty="0"/>
              <a:t>Categorical Features Encoding : </a:t>
            </a:r>
            <a:r>
              <a:rPr lang="en-IN" sz="1600" dirty="0"/>
              <a:t>Applied</a:t>
            </a:r>
            <a:r>
              <a:rPr lang="en-IN" sz="1600" b="1" dirty="0"/>
              <a:t> One Hot Encoding </a:t>
            </a:r>
            <a:r>
              <a:rPr lang="en-IN" sz="1600" dirty="0"/>
              <a:t>on</a:t>
            </a:r>
            <a:r>
              <a:rPr lang="en-IN" sz="1600" b="1" dirty="0"/>
              <a:t> ‘type’</a:t>
            </a:r>
            <a:r>
              <a:rPr lang="en-IN" sz="1600" dirty="0"/>
              <a:t>, since it is a nominal variable.</a:t>
            </a:r>
          </a:p>
          <a:p>
            <a:pPr marL="285750" indent="-285750">
              <a:buFont typeface="Arial" panose="020B0604020202020204" pitchFamily="34" charset="0"/>
              <a:buChar char="•"/>
            </a:pPr>
            <a:r>
              <a:rPr lang="en-IN" sz="1600" b="1" dirty="0"/>
              <a:t>Feature Scaling : </a:t>
            </a:r>
            <a:r>
              <a:rPr lang="en-US" sz="1600" dirty="0"/>
              <a:t>Are imp. for the algorithms that are </a:t>
            </a:r>
            <a:r>
              <a:rPr lang="en-US" sz="1600" b="1" dirty="0"/>
              <a:t>sensitive to the magnitude and scale of feature</a:t>
            </a:r>
            <a:r>
              <a:rPr lang="en-US" sz="1600" dirty="0"/>
              <a:t>, but not all algorithms requires scaling like Decision Tree are scale-invariant and given our intent to use mix-model we’ve chosen to </a:t>
            </a:r>
            <a:r>
              <a:rPr lang="en-US" sz="1600" b="1" dirty="0"/>
              <a:t>handle scaling later using pipelines</a:t>
            </a:r>
            <a:r>
              <a:rPr lang="en-US" sz="1600" dirty="0"/>
              <a:t>.</a:t>
            </a:r>
          </a:p>
          <a:p>
            <a:r>
              <a:rPr lang="en-US" b="1" dirty="0"/>
              <a:t>Feature Definition: </a:t>
            </a:r>
          </a:p>
          <a:p>
            <a:pPr marL="285750" indent="-285750">
              <a:buFont typeface="Arial" panose="020B0604020202020204" pitchFamily="34" charset="0"/>
              <a:buChar char="•"/>
            </a:pPr>
            <a:r>
              <a:rPr lang="en-US" sz="1600" b="1" dirty="0"/>
              <a:t>x(Independent Variable): </a:t>
            </a:r>
            <a:r>
              <a:rPr lang="en-US" sz="1600" dirty="0"/>
              <a:t>‘amount’, ‘</a:t>
            </a:r>
            <a:r>
              <a:rPr lang="en-US" sz="1600" dirty="0" err="1"/>
              <a:t>oldbalanceOrg</a:t>
            </a:r>
            <a:r>
              <a:rPr lang="en-US" sz="1600" dirty="0"/>
              <a:t>’, ‘</a:t>
            </a:r>
            <a:r>
              <a:rPr lang="en-US" sz="1600" dirty="0" err="1"/>
              <a:t>newbalanceOrig</a:t>
            </a:r>
            <a:r>
              <a:rPr lang="en-US" sz="1600" dirty="0"/>
              <a:t>’, ‘</a:t>
            </a:r>
            <a:r>
              <a:rPr lang="en-US" sz="1600" dirty="0" err="1"/>
              <a:t>oldbalanceDest</a:t>
            </a:r>
            <a:r>
              <a:rPr lang="en-US" sz="1600" dirty="0"/>
              <a:t>’, ‘</a:t>
            </a:r>
            <a:r>
              <a:rPr lang="en-US" sz="1600" dirty="0" err="1"/>
              <a:t>newbalanceDest</a:t>
            </a:r>
            <a:r>
              <a:rPr lang="en-US" sz="1600" dirty="0"/>
              <a:t>’, ‘type’</a:t>
            </a:r>
          </a:p>
          <a:p>
            <a:pPr marL="285750" indent="-285750">
              <a:buFont typeface="Arial" panose="020B0604020202020204" pitchFamily="34" charset="0"/>
              <a:buChar char="•"/>
            </a:pPr>
            <a:r>
              <a:rPr lang="en-US" sz="1600" b="1" dirty="0"/>
              <a:t>y(Dependent Variable): </a:t>
            </a:r>
            <a:r>
              <a:rPr lang="en-US" sz="1600" dirty="0"/>
              <a:t>‘</a:t>
            </a:r>
            <a:r>
              <a:rPr lang="en-US" sz="1600" dirty="0" err="1"/>
              <a:t>isFRaud</a:t>
            </a:r>
            <a:r>
              <a:rPr lang="en-US" sz="1600" dirty="0"/>
              <a:t>’</a:t>
            </a:r>
            <a:endParaRPr lang="en-US" dirty="0"/>
          </a:p>
          <a:p>
            <a:r>
              <a:rPr lang="en-US" b="1" dirty="0"/>
              <a:t>Data </a:t>
            </a:r>
            <a:r>
              <a:rPr lang="en-US" b="1" dirty="0" err="1"/>
              <a:t>Spliting</a:t>
            </a:r>
            <a:r>
              <a:rPr lang="en-US" b="1" dirty="0"/>
              <a:t>:</a:t>
            </a:r>
          </a:p>
          <a:p>
            <a:pPr marL="285750" indent="-285750">
              <a:buFont typeface="Arial" panose="020B0604020202020204" pitchFamily="34" charset="0"/>
              <a:buChar char="•"/>
            </a:pPr>
            <a:r>
              <a:rPr lang="en-US" sz="1600" dirty="0"/>
              <a:t>Data </a:t>
            </a:r>
            <a:r>
              <a:rPr lang="en-US" sz="1600" dirty="0" err="1"/>
              <a:t>splited</a:t>
            </a:r>
            <a:r>
              <a:rPr lang="en-US" sz="1600" dirty="0"/>
              <a:t> using </a:t>
            </a:r>
            <a:r>
              <a:rPr lang="en-US" sz="1600" b="1" dirty="0" err="1"/>
              <a:t>train_test_split</a:t>
            </a:r>
            <a:r>
              <a:rPr lang="en-US" sz="1600" b="1" dirty="0"/>
              <a:t> </a:t>
            </a:r>
            <a:r>
              <a:rPr lang="en-US" sz="1600" dirty="0"/>
              <a:t>into training and testing set</a:t>
            </a:r>
          </a:p>
          <a:p>
            <a:pPr marL="285750" indent="-285750">
              <a:buFont typeface="Arial" panose="020B0604020202020204" pitchFamily="34" charset="0"/>
              <a:buChar char="•"/>
            </a:pPr>
            <a:r>
              <a:rPr lang="en-US" sz="1600" dirty="0"/>
              <a:t>Training set - </a:t>
            </a:r>
            <a:r>
              <a:rPr lang="en-US" sz="1600" b="1" dirty="0"/>
              <a:t>80%</a:t>
            </a:r>
            <a:r>
              <a:rPr lang="en-US" sz="1600" dirty="0"/>
              <a:t>, Testing set – </a:t>
            </a:r>
            <a:r>
              <a:rPr lang="en-US" sz="1600" b="1" dirty="0"/>
              <a:t>20%</a:t>
            </a:r>
            <a:r>
              <a:rPr lang="en-US" sz="1600" dirty="0"/>
              <a:t> </a:t>
            </a:r>
          </a:p>
          <a:p>
            <a:endParaRPr lang="en-US" dirty="0"/>
          </a:p>
          <a:p>
            <a:pPr marL="285750" indent="-285750">
              <a:buFont typeface="Arial" panose="020B0604020202020204" pitchFamily="34" charset="0"/>
              <a:buChar char="•"/>
            </a:pPr>
            <a:endParaRPr lang="en-IN" b="1" dirty="0"/>
          </a:p>
        </p:txBody>
      </p:sp>
    </p:spTree>
    <p:extLst>
      <p:ext uri="{BB962C8B-B14F-4D97-AF65-F5344CB8AC3E}">
        <p14:creationId xmlns:p14="http://schemas.microsoft.com/office/powerpoint/2010/main" val="215321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181A-4251-0639-9B7A-4D811596FEA2}"/>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A07209B2-5A17-D101-FD48-78043FD47EDB}"/>
              </a:ext>
            </a:extLst>
          </p:cNvPr>
          <p:cNvSpPr>
            <a:spLocks noGrp="1"/>
          </p:cNvSpPr>
          <p:nvPr>
            <p:ph type="title"/>
          </p:nvPr>
        </p:nvSpPr>
        <p:spPr>
          <a:xfrm>
            <a:off x="638175" y="2049670"/>
            <a:ext cx="3029261" cy="2562226"/>
          </a:xfrm>
        </p:spPr>
        <p:txBody>
          <a:bodyPr/>
          <a:lstStyle/>
          <a:p>
            <a:r>
              <a:rPr lang="en-US" dirty="0"/>
              <a:t>MODEL EVALUATION &amp; COMPARISON </a:t>
            </a:r>
          </a:p>
        </p:txBody>
      </p:sp>
      <p:sp>
        <p:nvSpPr>
          <p:cNvPr id="5" name="TextBox 4">
            <a:extLst>
              <a:ext uri="{FF2B5EF4-FFF2-40B4-BE49-F238E27FC236}">
                <a16:creationId xmlns:a16="http://schemas.microsoft.com/office/drawing/2014/main" id="{1FE49EE6-80ED-90C7-37A2-50F5CC11D7DA}"/>
              </a:ext>
            </a:extLst>
          </p:cNvPr>
          <p:cNvSpPr txBox="1"/>
          <p:nvPr/>
        </p:nvSpPr>
        <p:spPr>
          <a:xfrm>
            <a:off x="4459449" y="104581"/>
            <a:ext cx="7380126" cy="2215991"/>
          </a:xfrm>
          <a:prstGeom prst="rect">
            <a:avLst/>
          </a:prstGeom>
          <a:noFill/>
        </p:spPr>
        <p:txBody>
          <a:bodyPr wrap="square" rtlCol="0">
            <a:spAutoFit/>
          </a:bodyPr>
          <a:lstStyle/>
          <a:p>
            <a:r>
              <a:rPr lang="en-US" b="1" dirty="0"/>
              <a:t>Model Used:</a:t>
            </a:r>
          </a:p>
          <a:p>
            <a:pPr marL="285750" indent="-285750">
              <a:buFont typeface="Arial" panose="020B0604020202020204" pitchFamily="34" charset="0"/>
              <a:buChar char="•"/>
            </a:pPr>
            <a:r>
              <a:rPr lang="en-US" sz="1600" dirty="0"/>
              <a:t>Logistic Regression(LR)</a:t>
            </a:r>
          </a:p>
          <a:p>
            <a:pPr marL="285750" indent="-285750">
              <a:buFont typeface="Arial" panose="020B0604020202020204" pitchFamily="34" charset="0"/>
              <a:buChar char="•"/>
            </a:pPr>
            <a:r>
              <a:rPr lang="en-US" sz="1600" dirty="0"/>
              <a:t>Support Vector Machine(SVM)</a:t>
            </a:r>
          </a:p>
          <a:p>
            <a:pPr marL="285750" indent="-285750">
              <a:buFont typeface="Arial" panose="020B0604020202020204" pitchFamily="34" charset="0"/>
              <a:buChar char="•"/>
            </a:pPr>
            <a:r>
              <a:rPr lang="en-US" sz="1600" dirty="0"/>
              <a:t>Random Forest(RF)</a:t>
            </a:r>
          </a:p>
          <a:p>
            <a:pPr marL="285750" indent="-285750">
              <a:buFont typeface="Arial" panose="020B0604020202020204" pitchFamily="34" charset="0"/>
              <a:buChar char="•"/>
            </a:pPr>
            <a:r>
              <a:rPr lang="en-US" sz="1600" dirty="0"/>
              <a:t>Decision Tree(DT)</a:t>
            </a:r>
            <a:endParaRPr lang="en-US" dirty="0"/>
          </a:p>
          <a:p>
            <a:r>
              <a:rPr lang="en-US" b="1" dirty="0"/>
              <a:t>Model Comparison:</a:t>
            </a:r>
          </a:p>
          <a:p>
            <a:endParaRPr lang="en-US" b="1" dirty="0"/>
          </a:p>
          <a:p>
            <a:pPr marL="285750" indent="-285750">
              <a:buFont typeface="Arial" panose="020B0604020202020204" pitchFamily="34" charset="0"/>
              <a:buChar char="•"/>
            </a:pPr>
            <a:endParaRPr lang="en-IN" b="1" dirty="0"/>
          </a:p>
        </p:txBody>
      </p:sp>
      <p:graphicFrame>
        <p:nvGraphicFramePr>
          <p:cNvPr id="2" name="Table 1">
            <a:extLst>
              <a:ext uri="{FF2B5EF4-FFF2-40B4-BE49-F238E27FC236}">
                <a16:creationId xmlns:a16="http://schemas.microsoft.com/office/drawing/2014/main" id="{B4097E70-119B-CA3E-2747-2248CAF61607}"/>
              </a:ext>
            </a:extLst>
          </p:cNvPr>
          <p:cNvGraphicFramePr>
            <a:graphicFrameLocks noGrp="1"/>
          </p:cNvGraphicFramePr>
          <p:nvPr>
            <p:extLst>
              <p:ext uri="{D42A27DB-BD31-4B8C-83A1-F6EECF244321}">
                <p14:modId xmlns:p14="http://schemas.microsoft.com/office/powerpoint/2010/main" val="1652509639"/>
              </p:ext>
            </p:extLst>
          </p:nvPr>
        </p:nvGraphicFramePr>
        <p:xfrm>
          <a:off x="4533900" y="1754395"/>
          <a:ext cx="6153150" cy="1856247"/>
        </p:xfrm>
        <a:graphic>
          <a:graphicData uri="http://schemas.openxmlformats.org/drawingml/2006/table">
            <a:tbl>
              <a:tblPr firstRow="1" bandRow="1">
                <a:tableStyleId>{5C22544A-7EE6-4342-B048-85BDC9FD1C3A}</a:tableStyleId>
              </a:tblPr>
              <a:tblGrid>
                <a:gridCol w="1230630">
                  <a:extLst>
                    <a:ext uri="{9D8B030D-6E8A-4147-A177-3AD203B41FA5}">
                      <a16:colId xmlns:a16="http://schemas.microsoft.com/office/drawing/2014/main" val="2325404422"/>
                    </a:ext>
                  </a:extLst>
                </a:gridCol>
                <a:gridCol w="1230630">
                  <a:extLst>
                    <a:ext uri="{9D8B030D-6E8A-4147-A177-3AD203B41FA5}">
                      <a16:colId xmlns:a16="http://schemas.microsoft.com/office/drawing/2014/main" val="3647695651"/>
                    </a:ext>
                  </a:extLst>
                </a:gridCol>
                <a:gridCol w="1230630">
                  <a:extLst>
                    <a:ext uri="{9D8B030D-6E8A-4147-A177-3AD203B41FA5}">
                      <a16:colId xmlns:a16="http://schemas.microsoft.com/office/drawing/2014/main" val="1759174577"/>
                    </a:ext>
                  </a:extLst>
                </a:gridCol>
                <a:gridCol w="1230630">
                  <a:extLst>
                    <a:ext uri="{9D8B030D-6E8A-4147-A177-3AD203B41FA5}">
                      <a16:colId xmlns:a16="http://schemas.microsoft.com/office/drawing/2014/main" val="2280240450"/>
                    </a:ext>
                  </a:extLst>
                </a:gridCol>
                <a:gridCol w="1230630">
                  <a:extLst>
                    <a:ext uri="{9D8B030D-6E8A-4147-A177-3AD203B41FA5}">
                      <a16:colId xmlns:a16="http://schemas.microsoft.com/office/drawing/2014/main" val="4211280195"/>
                    </a:ext>
                  </a:extLst>
                </a:gridCol>
              </a:tblGrid>
              <a:tr h="515127">
                <a:tc>
                  <a:txBody>
                    <a:bodyPr/>
                    <a:lstStyle/>
                    <a:p>
                      <a:pPr algn="ctr"/>
                      <a:r>
                        <a:rPr lang="en-US" sz="1600" dirty="0"/>
                        <a:t>Models</a:t>
                      </a:r>
                      <a:endParaRPr lang="en-IN" sz="1600" dirty="0"/>
                    </a:p>
                  </a:txBody>
                  <a:tcPr/>
                </a:tc>
                <a:tc>
                  <a:txBody>
                    <a:bodyPr/>
                    <a:lstStyle/>
                    <a:p>
                      <a:pPr algn="ctr"/>
                      <a:r>
                        <a:rPr lang="en-US" sz="1600" dirty="0"/>
                        <a:t>Precision(%)</a:t>
                      </a:r>
                      <a:endParaRPr lang="en-IN" sz="1600" dirty="0"/>
                    </a:p>
                  </a:txBody>
                  <a:tcPr/>
                </a:tc>
                <a:tc>
                  <a:txBody>
                    <a:bodyPr/>
                    <a:lstStyle/>
                    <a:p>
                      <a:pPr algn="ctr"/>
                      <a:r>
                        <a:rPr lang="en-US" sz="1600" dirty="0"/>
                        <a:t>Recall(%)</a:t>
                      </a:r>
                      <a:endParaRPr lang="en-IN" sz="1600" dirty="0"/>
                    </a:p>
                  </a:txBody>
                  <a:tcPr/>
                </a:tc>
                <a:tc>
                  <a:txBody>
                    <a:bodyPr/>
                    <a:lstStyle/>
                    <a:p>
                      <a:pPr algn="ctr"/>
                      <a:r>
                        <a:rPr lang="en-US" sz="1600" dirty="0"/>
                        <a:t>F1-Score(%)</a:t>
                      </a:r>
                      <a:endParaRPr lang="en-IN" sz="1600" dirty="0"/>
                    </a:p>
                  </a:txBody>
                  <a:tcPr/>
                </a:tc>
                <a:tc>
                  <a:txBody>
                    <a:bodyPr/>
                    <a:lstStyle/>
                    <a:p>
                      <a:pPr algn="ctr"/>
                      <a:r>
                        <a:rPr lang="en-US" sz="1600" dirty="0"/>
                        <a:t>Accuracy(%)</a:t>
                      </a:r>
                      <a:endParaRPr lang="en-IN" sz="1600" dirty="0"/>
                    </a:p>
                  </a:txBody>
                  <a:tcPr/>
                </a:tc>
                <a:extLst>
                  <a:ext uri="{0D108BD9-81ED-4DB2-BD59-A6C34878D82A}">
                    <a16:rowId xmlns:a16="http://schemas.microsoft.com/office/drawing/2014/main" val="377188669"/>
                  </a:ext>
                </a:extLst>
              </a:tr>
              <a:tr h="298232">
                <a:tc>
                  <a:txBody>
                    <a:bodyPr/>
                    <a:lstStyle/>
                    <a:p>
                      <a:pPr algn="ctr"/>
                      <a:r>
                        <a:rPr lang="en-US" sz="1600" dirty="0"/>
                        <a:t>RF</a:t>
                      </a:r>
                      <a:endParaRPr lang="en-IN" sz="1600" dirty="0"/>
                    </a:p>
                  </a:txBody>
                  <a:tcPr/>
                </a:tc>
                <a:tc>
                  <a:txBody>
                    <a:bodyPr/>
                    <a:lstStyle/>
                    <a:p>
                      <a:pPr algn="ctr"/>
                      <a:r>
                        <a:rPr lang="en-US" sz="1600" dirty="0"/>
                        <a:t>100</a:t>
                      </a:r>
                      <a:endParaRPr lang="en-IN" sz="1600" dirty="0"/>
                    </a:p>
                  </a:txBody>
                  <a:tcPr/>
                </a:tc>
                <a:tc>
                  <a:txBody>
                    <a:bodyPr/>
                    <a:lstStyle/>
                    <a:p>
                      <a:pPr algn="ctr"/>
                      <a:r>
                        <a:rPr lang="en-US" sz="1600" dirty="0"/>
                        <a:t>97</a:t>
                      </a:r>
                      <a:endParaRPr lang="en-IN" sz="1600" dirty="0"/>
                    </a:p>
                  </a:txBody>
                  <a:tcPr/>
                </a:tc>
                <a:tc>
                  <a:txBody>
                    <a:bodyPr/>
                    <a:lstStyle/>
                    <a:p>
                      <a:pPr algn="ctr"/>
                      <a:r>
                        <a:rPr lang="en-US" sz="1600" dirty="0"/>
                        <a:t>98</a:t>
                      </a:r>
                      <a:endParaRPr lang="en-IN" sz="1600" dirty="0"/>
                    </a:p>
                  </a:txBody>
                  <a:tcPr/>
                </a:tc>
                <a:tc>
                  <a:txBody>
                    <a:bodyPr/>
                    <a:lstStyle/>
                    <a:p>
                      <a:pPr algn="ctr"/>
                      <a:r>
                        <a:rPr lang="en-US" sz="1600" dirty="0"/>
                        <a:t>99</a:t>
                      </a:r>
                      <a:endParaRPr lang="en-IN" sz="1600" dirty="0"/>
                    </a:p>
                  </a:txBody>
                  <a:tcPr/>
                </a:tc>
                <a:extLst>
                  <a:ext uri="{0D108BD9-81ED-4DB2-BD59-A6C34878D82A}">
                    <a16:rowId xmlns:a16="http://schemas.microsoft.com/office/drawing/2014/main" val="1947298378"/>
                  </a:ext>
                </a:extLst>
              </a:tr>
              <a:tr h="298232">
                <a:tc>
                  <a:txBody>
                    <a:bodyPr/>
                    <a:lstStyle/>
                    <a:p>
                      <a:pPr algn="ctr"/>
                      <a:r>
                        <a:rPr lang="en-US" sz="1600" dirty="0"/>
                        <a:t>DT</a:t>
                      </a:r>
                      <a:endParaRPr lang="en-IN" sz="1600" dirty="0"/>
                    </a:p>
                  </a:txBody>
                  <a:tcPr/>
                </a:tc>
                <a:tc>
                  <a:txBody>
                    <a:bodyPr/>
                    <a:lstStyle/>
                    <a:p>
                      <a:pPr algn="ctr"/>
                      <a:r>
                        <a:rPr lang="en-US" sz="1600" dirty="0"/>
                        <a:t>98</a:t>
                      </a:r>
                      <a:endParaRPr lang="en-IN" sz="1600" dirty="0"/>
                    </a:p>
                  </a:txBody>
                  <a:tcPr/>
                </a:tc>
                <a:tc>
                  <a:txBody>
                    <a:bodyPr/>
                    <a:lstStyle/>
                    <a:p>
                      <a:pPr algn="ctr"/>
                      <a:r>
                        <a:rPr lang="en-US" sz="1600" dirty="0"/>
                        <a:t>97</a:t>
                      </a:r>
                      <a:endParaRPr lang="en-IN" sz="1600" dirty="0"/>
                    </a:p>
                  </a:txBody>
                  <a:tcPr/>
                </a:tc>
                <a:tc>
                  <a:txBody>
                    <a:bodyPr/>
                    <a:lstStyle/>
                    <a:p>
                      <a:pPr algn="ctr"/>
                      <a:r>
                        <a:rPr lang="en-US" sz="1600" dirty="0"/>
                        <a:t>98</a:t>
                      </a:r>
                      <a:endParaRPr lang="en-IN" sz="1600" dirty="0"/>
                    </a:p>
                  </a:txBody>
                  <a:tcPr/>
                </a:tc>
                <a:tc>
                  <a:txBody>
                    <a:bodyPr/>
                    <a:lstStyle/>
                    <a:p>
                      <a:pPr algn="ctr"/>
                      <a:r>
                        <a:rPr lang="en-US" sz="1600" dirty="0"/>
                        <a:t>99</a:t>
                      </a:r>
                      <a:endParaRPr lang="en-IN" sz="1600" dirty="0"/>
                    </a:p>
                  </a:txBody>
                  <a:tcPr/>
                </a:tc>
                <a:extLst>
                  <a:ext uri="{0D108BD9-81ED-4DB2-BD59-A6C34878D82A}">
                    <a16:rowId xmlns:a16="http://schemas.microsoft.com/office/drawing/2014/main" val="672075713"/>
                  </a:ext>
                </a:extLst>
              </a:tr>
              <a:tr h="298232">
                <a:tc>
                  <a:txBody>
                    <a:bodyPr/>
                    <a:lstStyle/>
                    <a:p>
                      <a:pPr algn="ctr"/>
                      <a:r>
                        <a:rPr lang="en-US" sz="1600" dirty="0"/>
                        <a:t>SVM</a:t>
                      </a:r>
                      <a:endParaRPr lang="en-IN" sz="1600" dirty="0"/>
                    </a:p>
                  </a:txBody>
                  <a:tcPr/>
                </a:tc>
                <a:tc>
                  <a:txBody>
                    <a:bodyPr/>
                    <a:lstStyle/>
                    <a:p>
                      <a:pPr algn="ctr"/>
                      <a:r>
                        <a:rPr lang="en-US" sz="1600" dirty="0"/>
                        <a:t>98</a:t>
                      </a:r>
                      <a:endParaRPr lang="en-IN" sz="1600" dirty="0"/>
                    </a:p>
                  </a:txBody>
                  <a:tcPr/>
                </a:tc>
                <a:tc>
                  <a:txBody>
                    <a:bodyPr/>
                    <a:lstStyle/>
                    <a:p>
                      <a:pPr algn="ctr"/>
                      <a:r>
                        <a:rPr lang="en-US" sz="1600" dirty="0"/>
                        <a:t>98</a:t>
                      </a:r>
                      <a:endParaRPr lang="en-IN" sz="1600" dirty="0"/>
                    </a:p>
                  </a:txBody>
                  <a:tcPr/>
                </a:tc>
                <a:tc>
                  <a:txBody>
                    <a:bodyPr/>
                    <a:lstStyle/>
                    <a:p>
                      <a:pPr algn="ctr"/>
                      <a:r>
                        <a:rPr lang="en-US" sz="1600" dirty="0"/>
                        <a:t>98</a:t>
                      </a:r>
                      <a:endParaRPr lang="en-IN" sz="1600" dirty="0"/>
                    </a:p>
                  </a:txBody>
                  <a:tcPr/>
                </a:tc>
                <a:tc>
                  <a:txBody>
                    <a:bodyPr/>
                    <a:lstStyle/>
                    <a:p>
                      <a:pPr algn="ctr"/>
                      <a:r>
                        <a:rPr lang="en-US" sz="1600" dirty="0"/>
                        <a:t>99</a:t>
                      </a:r>
                      <a:endParaRPr lang="en-IN" sz="1600" dirty="0"/>
                    </a:p>
                  </a:txBody>
                  <a:tcPr/>
                </a:tc>
                <a:extLst>
                  <a:ext uri="{0D108BD9-81ED-4DB2-BD59-A6C34878D82A}">
                    <a16:rowId xmlns:a16="http://schemas.microsoft.com/office/drawing/2014/main" val="1497460051"/>
                  </a:ext>
                </a:extLst>
              </a:tr>
              <a:tr h="298232">
                <a:tc>
                  <a:txBody>
                    <a:bodyPr/>
                    <a:lstStyle/>
                    <a:p>
                      <a:pPr algn="ctr"/>
                      <a:r>
                        <a:rPr lang="en-US" sz="1600" dirty="0"/>
                        <a:t>LR</a:t>
                      </a:r>
                      <a:endParaRPr lang="en-IN" sz="1600" dirty="0"/>
                    </a:p>
                  </a:txBody>
                  <a:tcPr/>
                </a:tc>
                <a:tc>
                  <a:txBody>
                    <a:bodyPr/>
                    <a:lstStyle/>
                    <a:p>
                      <a:pPr algn="ctr"/>
                      <a:r>
                        <a:rPr lang="en-US" sz="1600" dirty="0"/>
                        <a:t>93</a:t>
                      </a:r>
                      <a:endParaRPr lang="en-IN" sz="1600" dirty="0"/>
                    </a:p>
                  </a:txBody>
                  <a:tcPr/>
                </a:tc>
                <a:tc>
                  <a:txBody>
                    <a:bodyPr/>
                    <a:lstStyle/>
                    <a:p>
                      <a:pPr algn="ctr"/>
                      <a:r>
                        <a:rPr lang="en-US" sz="1600" dirty="0"/>
                        <a:t>96</a:t>
                      </a:r>
                      <a:endParaRPr lang="en-IN" sz="1600" dirty="0"/>
                    </a:p>
                  </a:txBody>
                  <a:tcPr/>
                </a:tc>
                <a:tc>
                  <a:txBody>
                    <a:bodyPr/>
                    <a:lstStyle/>
                    <a:p>
                      <a:pPr algn="ctr"/>
                      <a:r>
                        <a:rPr lang="en-US" sz="1600" dirty="0"/>
                        <a:t>95</a:t>
                      </a:r>
                      <a:endParaRPr lang="en-IN" sz="1600" dirty="0"/>
                    </a:p>
                  </a:txBody>
                  <a:tcPr/>
                </a:tc>
                <a:tc>
                  <a:txBody>
                    <a:bodyPr/>
                    <a:lstStyle/>
                    <a:p>
                      <a:pPr algn="ctr"/>
                      <a:r>
                        <a:rPr lang="en-US" sz="1600" dirty="0"/>
                        <a:t>98</a:t>
                      </a:r>
                      <a:endParaRPr lang="en-IN" sz="1600" dirty="0"/>
                    </a:p>
                  </a:txBody>
                  <a:tcPr/>
                </a:tc>
                <a:extLst>
                  <a:ext uri="{0D108BD9-81ED-4DB2-BD59-A6C34878D82A}">
                    <a16:rowId xmlns:a16="http://schemas.microsoft.com/office/drawing/2014/main" val="452877261"/>
                  </a:ext>
                </a:extLst>
              </a:tr>
            </a:tbl>
          </a:graphicData>
        </a:graphic>
      </p:graphicFrame>
      <p:graphicFrame>
        <p:nvGraphicFramePr>
          <p:cNvPr id="10" name="Chart 9">
            <a:extLst>
              <a:ext uri="{FF2B5EF4-FFF2-40B4-BE49-F238E27FC236}">
                <a16:creationId xmlns:a16="http://schemas.microsoft.com/office/drawing/2014/main" id="{C6E6789B-D24B-D59F-852E-B4DF9AA93B0E}"/>
              </a:ext>
            </a:extLst>
          </p:cNvPr>
          <p:cNvGraphicFramePr/>
          <p:nvPr>
            <p:extLst>
              <p:ext uri="{D42A27DB-BD31-4B8C-83A1-F6EECF244321}">
                <p14:modId xmlns:p14="http://schemas.microsoft.com/office/powerpoint/2010/main" val="1429571167"/>
              </p:ext>
            </p:extLst>
          </p:nvPr>
        </p:nvGraphicFramePr>
        <p:xfrm>
          <a:off x="4448175" y="3648742"/>
          <a:ext cx="3525687" cy="1992264"/>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DAB81DD0-B68E-44EF-62E9-B13A9E9A4BE0}"/>
              </a:ext>
            </a:extLst>
          </p:cNvPr>
          <p:cNvSpPr txBox="1"/>
          <p:nvPr/>
        </p:nvSpPr>
        <p:spPr>
          <a:xfrm>
            <a:off x="8122297" y="3632135"/>
            <a:ext cx="3525687" cy="2092881"/>
          </a:xfrm>
          <a:prstGeom prst="rect">
            <a:avLst/>
          </a:prstGeom>
          <a:noFill/>
        </p:spPr>
        <p:txBody>
          <a:bodyPr wrap="square" rtlCol="0">
            <a:spAutoFit/>
          </a:bodyPr>
          <a:lstStyle/>
          <a:p>
            <a:r>
              <a:rPr lang="en-US" b="1" dirty="0"/>
              <a:t>Inference:</a:t>
            </a:r>
          </a:p>
          <a:p>
            <a:pPr marL="285750" indent="-285750">
              <a:buFont typeface="Arial" panose="020B0604020202020204" pitchFamily="34" charset="0"/>
              <a:buChar char="•"/>
            </a:pPr>
            <a:r>
              <a:rPr lang="en-US" sz="1600" dirty="0"/>
              <a:t>In our case precision is important as we don’t want to loose any customer by mis-predicting their transaction as fraud</a:t>
            </a:r>
          </a:p>
          <a:p>
            <a:pPr marL="285750" indent="-285750">
              <a:buFont typeface="Arial" panose="020B0604020202020204" pitchFamily="34" charset="0"/>
              <a:buChar char="•"/>
            </a:pPr>
            <a:r>
              <a:rPr lang="en-US" sz="1600" dirty="0"/>
              <a:t>As per the requirement, Random Forest(RF) seems to be perfect model for fraud prediction</a:t>
            </a:r>
          </a:p>
        </p:txBody>
      </p:sp>
    </p:spTree>
    <p:extLst>
      <p:ext uri="{BB962C8B-B14F-4D97-AF65-F5344CB8AC3E}">
        <p14:creationId xmlns:p14="http://schemas.microsoft.com/office/powerpoint/2010/main" val="623407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11EA1-5FA9-C3FF-D39B-5565D8E71763}"/>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78D19D02-1F2F-77B7-36EA-85D70AE8A21A}"/>
              </a:ext>
            </a:extLst>
          </p:cNvPr>
          <p:cNvSpPr>
            <a:spLocks noGrp="1"/>
          </p:cNvSpPr>
          <p:nvPr>
            <p:ph type="title"/>
          </p:nvPr>
        </p:nvSpPr>
        <p:spPr>
          <a:xfrm>
            <a:off x="666168" y="2049670"/>
            <a:ext cx="3029261" cy="2562226"/>
          </a:xfrm>
        </p:spPr>
        <p:txBody>
          <a:bodyPr/>
          <a:lstStyle/>
          <a:p>
            <a:r>
              <a:rPr lang="en-US" dirty="0"/>
              <a:t>CONCLUSION </a:t>
            </a:r>
          </a:p>
        </p:txBody>
      </p:sp>
      <p:sp>
        <p:nvSpPr>
          <p:cNvPr id="5" name="TextBox 4">
            <a:extLst>
              <a:ext uri="{FF2B5EF4-FFF2-40B4-BE49-F238E27FC236}">
                <a16:creationId xmlns:a16="http://schemas.microsoft.com/office/drawing/2014/main" id="{20E496C6-5C01-85E8-E41D-4E32F10293C3}"/>
              </a:ext>
            </a:extLst>
          </p:cNvPr>
          <p:cNvSpPr txBox="1"/>
          <p:nvPr/>
        </p:nvSpPr>
        <p:spPr>
          <a:xfrm>
            <a:off x="4459449" y="431163"/>
            <a:ext cx="7380126" cy="3877985"/>
          </a:xfrm>
          <a:prstGeom prst="rect">
            <a:avLst/>
          </a:prstGeom>
          <a:noFill/>
        </p:spPr>
        <p:txBody>
          <a:bodyPr wrap="square" rtlCol="0">
            <a:spAutoFit/>
          </a:bodyPr>
          <a:lstStyle/>
          <a:p>
            <a:r>
              <a:rPr lang="en-US" b="1" dirty="0"/>
              <a:t>Financial Impact:</a:t>
            </a:r>
          </a:p>
          <a:p>
            <a:pPr marL="285750" indent="-285750">
              <a:buFont typeface="Arial" panose="020B0604020202020204" pitchFamily="34" charset="0"/>
              <a:buChar char="•"/>
            </a:pPr>
            <a:r>
              <a:rPr lang="en-US" sz="1600" dirty="0"/>
              <a:t>Net expected loss due to model’s error is 9 to 10 Million bucks</a:t>
            </a:r>
          </a:p>
          <a:p>
            <a:pPr marL="285750" indent="-285750">
              <a:buFont typeface="Arial" panose="020B0604020202020204" pitchFamily="34" charset="0"/>
              <a:buChar char="•"/>
            </a:pPr>
            <a:r>
              <a:rPr lang="en-US" sz="1600" dirty="0"/>
              <a:t>Expected amount saved due to model’s correct prediction is 1.3 Billion bucks</a:t>
            </a:r>
            <a:endParaRPr lang="en-US" dirty="0"/>
          </a:p>
          <a:p>
            <a:r>
              <a:rPr lang="en-US" b="1" dirty="0"/>
              <a:t>Limitation:</a:t>
            </a:r>
          </a:p>
          <a:p>
            <a:pPr marL="285750" indent="-285750">
              <a:buFont typeface="Arial" panose="020B0604020202020204" pitchFamily="34" charset="0"/>
              <a:buChar char="•"/>
            </a:pPr>
            <a:r>
              <a:rPr lang="en-US" sz="1600" dirty="0"/>
              <a:t>The study relies on single dataset, potentially limiting its generalizability to diverse population</a:t>
            </a:r>
          </a:p>
          <a:p>
            <a:pPr marL="285750" indent="-285750">
              <a:buFont typeface="Arial" panose="020B0604020202020204" pitchFamily="34" charset="0"/>
              <a:buChar char="•"/>
            </a:pPr>
            <a:r>
              <a:rPr lang="en-US" sz="1600" dirty="0"/>
              <a:t>The analysis only focus on time, balance, amount and type of transaction, overlooking on features such as IP </a:t>
            </a:r>
            <a:r>
              <a:rPr lang="en-IN" sz="1600" dirty="0"/>
              <a:t>address, customer history etc</a:t>
            </a:r>
          </a:p>
          <a:p>
            <a:pPr marL="285750" indent="-285750">
              <a:buFont typeface="Arial" panose="020B0604020202020204" pitchFamily="34" charset="0"/>
              <a:buChar char="•"/>
            </a:pPr>
            <a:r>
              <a:rPr lang="en-IN" sz="1600" dirty="0"/>
              <a:t>There is a lack of test dataset evaluation for model, which is a rising concern about its real world applicability</a:t>
            </a:r>
            <a:endParaRPr lang="en-US" sz="1600" dirty="0"/>
          </a:p>
          <a:p>
            <a:r>
              <a:rPr lang="en-US" b="1" dirty="0"/>
              <a:t>Future Research:</a:t>
            </a:r>
          </a:p>
          <a:p>
            <a:r>
              <a:rPr lang="en-US" sz="1600" dirty="0"/>
              <a:t>Future research must ensure robustness, generalizability, and interpretability for informed decision-making based on study findings. It's important to check how duplicate data and unusual values affect the model's accuracy. Creating strategies to deal with these issues is valuable for improving model performance.</a:t>
            </a:r>
            <a:endParaRPr lang="en-IN" sz="1600" dirty="0"/>
          </a:p>
        </p:txBody>
      </p:sp>
    </p:spTree>
    <p:extLst>
      <p:ext uri="{BB962C8B-B14F-4D97-AF65-F5344CB8AC3E}">
        <p14:creationId xmlns:p14="http://schemas.microsoft.com/office/powerpoint/2010/main" val="2741184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11963</TotalTime>
  <Words>1682</Words>
  <Application>Microsoft Office PowerPoint</Application>
  <PresentationFormat>Widescreen</PresentationFormat>
  <Paragraphs>171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 Narrow</vt:lpstr>
      <vt:lpstr>Arial</vt:lpstr>
      <vt:lpstr>Calibri</vt:lpstr>
      <vt:lpstr>Courier New</vt:lpstr>
      <vt:lpstr>BIA Template</vt:lpstr>
      <vt:lpstr>PowerPoint Presentation</vt:lpstr>
      <vt:lpstr>CONTENTS:</vt:lpstr>
      <vt:lpstr>INTRODUCTION</vt:lpstr>
      <vt:lpstr>DATA OVERVIEW</vt:lpstr>
      <vt:lpstr>EXPLORATORY DATA ANALYSIS (EDA)</vt:lpstr>
      <vt:lpstr>NUMERICAL FEATURES UNIVARIATE ANALYSIS</vt:lpstr>
      <vt:lpstr>CATEGORICAL FEATURES UNIVARIATE ANALYSIS</vt:lpstr>
      <vt:lpstr>NUMERICAL FEATURES BIVARIATE ANALYSIS</vt:lpstr>
      <vt:lpstr>CATEGORICAL FEATURES BIVARIATE ANALYSIS</vt:lpstr>
      <vt:lpstr>MULTIVARIATE ANALYSIS</vt:lpstr>
      <vt:lpstr>DATA PREPROCESSING</vt:lpstr>
      <vt:lpstr>MODEL EVALUATION &amp; COMPARISON </vt:lpstr>
      <vt:lpstr>CONCLUSION </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Niladri Dutta</cp:lastModifiedBy>
  <cp:revision>2256</cp:revision>
  <dcterms:created xsi:type="dcterms:W3CDTF">2020-12-23T13:36:00Z</dcterms:created>
  <dcterms:modified xsi:type="dcterms:W3CDTF">2025-09-23T18:29:18Z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